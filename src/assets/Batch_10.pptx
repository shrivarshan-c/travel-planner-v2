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y="6858000" cx="12192000"/>
  <p:notesSz cx="6858000" cy="9144000"/>
  <p:embeddedFontLst>
    <p:embeddedFont>
      <p:font typeface="Bell MT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380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B82AEC7-BEA7-4E68-A2B0-D8DC0B0162C6}">
  <a:tblStyle styleId="{FB82AEC7-BEA7-4E68-A2B0-D8DC0B0162C6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0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BellMT-regular.fntdata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BellMT-italic.fntdata"/><Relationship Id="rId25" Type="http://schemas.openxmlformats.org/officeDocument/2006/relationships/font" Target="fonts/BellMT-bold.fntdata"/><Relationship Id="rId27" Type="http://schemas.openxmlformats.org/officeDocument/2006/relationships/font" Target="fonts/BellMT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2" y="0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2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23" name="Google Shape;2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Don’t include any decorative contents ( images , animations , sounds etc..)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Don’t change background in to different colors.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Ensure that date of presentation &amp; batch number is updated before sending this ppt.</a:t>
            </a:r>
            <a:endParaRPr/>
          </a:p>
        </p:txBody>
      </p:sp>
      <p:sp>
        <p:nvSpPr>
          <p:cNvPr id="24" name="Google Shape;24;p1:notes"/>
          <p:cNvSpPr txBox="1"/>
          <p:nvPr/>
        </p:nvSpPr>
        <p:spPr>
          <a:xfrm>
            <a:off x="3884612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35" name="Google Shape;3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This order can be varied based on the project Domain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2:notes"/>
          <p:cNvSpPr txBox="1"/>
          <p:nvPr/>
        </p:nvSpPr>
        <p:spPr>
          <a:xfrm>
            <a:off x="3884612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45" name="Google Shape;4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About the domain of your project (i.e embedded, wireless n/w , Iot etc….)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Problems related to your project can be highlighted (Context and background of the idea)</a:t>
            </a:r>
            <a:endParaRPr/>
          </a:p>
        </p:txBody>
      </p:sp>
      <p:sp>
        <p:nvSpPr>
          <p:cNvPr id="46" name="Google Shape;46;p3:notes"/>
          <p:cNvSpPr txBox="1"/>
          <p:nvPr/>
        </p:nvSpPr>
        <p:spPr>
          <a:xfrm>
            <a:off x="3884612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55" name="Google Shape;5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Discuss about the problem statement identified in your project and their solutions  (not in paragraphs ….only bulletins )</a:t>
            </a:r>
            <a:endParaRPr/>
          </a:p>
        </p:txBody>
      </p:sp>
      <p:sp>
        <p:nvSpPr>
          <p:cNvPr id="56" name="Google Shape;56;p4:notes"/>
          <p:cNvSpPr txBox="1"/>
          <p:nvPr/>
        </p:nvSpPr>
        <p:spPr>
          <a:xfrm>
            <a:off x="3884612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65" name="Google Shape;6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A minimum of 4 journal papers to be used. (select papers from the Journals like IEEE, Springer, Elsevier, Wiley)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Paper details : title of the paper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Journal Detail : Name of the journal , year , volume no , issue no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Methodology : Technique , Algorithm, Domain etc…</a:t>
            </a:r>
            <a:endParaRPr/>
          </a:p>
        </p:txBody>
      </p:sp>
      <p:sp>
        <p:nvSpPr>
          <p:cNvPr id="66" name="Google Shape;66;p5:notes"/>
          <p:cNvSpPr txBox="1"/>
          <p:nvPr/>
        </p:nvSpPr>
        <p:spPr>
          <a:xfrm>
            <a:off x="3884612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79" name="Google Shape;7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A minimum of 4 journal papers to be used. (select papers from the Journals like IEEE, Springer, Elsevier, Wiley)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Paper details : title of the paper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Journal Detail : Name of the journal , year , volume no , issue no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Methodology : Technique , Algorithm, Domain etc…</a:t>
            </a:r>
            <a:endParaRPr/>
          </a:p>
        </p:txBody>
      </p:sp>
      <p:sp>
        <p:nvSpPr>
          <p:cNvPr id="80" name="Google Shape;80;p6:notes"/>
          <p:cNvSpPr txBox="1"/>
          <p:nvPr/>
        </p:nvSpPr>
        <p:spPr>
          <a:xfrm>
            <a:off x="3884612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90" name="Google Shape;9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Mention the problem statement ….(what is your project work in statements …….not in paragraph ………only bulletin points)</a:t>
            </a:r>
            <a:endParaRPr/>
          </a:p>
        </p:txBody>
      </p:sp>
      <p:sp>
        <p:nvSpPr>
          <p:cNvPr id="91" name="Google Shape;91;p7:notes"/>
          <p:cNvSpPr txBox="1"/>
          <p:nvPr/>
        </p:nvSpPr>
        <p:spPr>
          <a:xfrm>
            <a:off x="3884612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100" name="Google Shape;10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8:notes"/>
          <p:cNvSpPr txBox="1"/>
          <p:nvPr/>
        </p:nvSpPr>
        <p:spPr>
          <a:xfrm>
            <a:off x="3884612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112" name="Google Shape;112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Explain about the proposed work</a:t>
            </a:r>
            <a:endParaRPr/>
          </a:p>
        </p:txBody>
      </p:sp>
      <p:sp>
        <p:nvSpPr>
          <p:cNvPr id="113" name="Google Shape;113;p9:notes"/>
          <p:cNvSpPr txBox="1"/>
          <p:nvPr/>
        </p:nvSpPr>
        <p:spPr>
          <a:xfrm>
            <a:off x="3884612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122" name="Google Shape;122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Provide Hardware / Software Details</a:t>
            </a:r>
            <a:endParaRPr/>
          </a:p>
        </p:txBody>
      </p:sp>
      <p:sp>
        <p:nvSpPr>
          <p:cNvPr id="123" name="Google Shape;123;p10:notes"/>
          <p:cNvSpPr txBox="1"/>
          <p:nvPr/>
        </p:nvSpPr>
        <p:spPr>
          <a:xfrm>
            <a:off x="3884612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132" name="Google Shape;13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Project work flow</a:t>
            </a:r>
            <a:endParaRPr/>
          </a:p>
        </p:txBody>
      </p:sp>
      <p:sp>
        <p:nvSpPr>
          <p:cNvPr id="133" name="Google Shape;133;p11:notes"/>
          <p:cNvSpPr txBox="1"/>
          <p:nvPr/>
        </p:nvSpPr>
        <p:spPr>
          <a:xfrm>
            <a:off x="3884612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8603efeecc_0_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142" name="Google Shape;142;g38603efeecc_0_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Discuss about the results from the Project</a:t>
            </a:r>
            <a:endParaRPr/>
          </a:p>
        </p:txBody>
      </p:sp>
      <p:sp>
        <p:nvSpPr>
          <p:cNvPr id="143" name="Google Shape;143;g38603efeecc_0_5:notes"/>
          <p:cNvSpPr txBox="1"/>
          <p:nvPr/>
        </p:nvSpPr>
        <p:spPr>
          <a:xfrm>
            <a:off x="3884612" y="8685212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153" name="Google Shape;153;p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Discuss about the results from the Project</a:t>
            </a:r>
            <a:endParaRPr/>
          </a:p>
        </p:txBody>
      </p:sp>
      <p:sp>
        <p:nvSpPr>
          <p:cNvPr id="154" name="Google Shape;154;p12:notes"/>
          <p:cNvSpPr txBox="1"/>
          <p:nvPr/>
        </p:nvSpPr>
        <p:spPr>
          <a:xfrm>
            <a:off x="3884612" y="8685212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164" name="Google Shape;164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Discuss about the results from the Project</a:t>
            </a:r>
            <a:endParaRPr/>
          </a:p>
        </p:txBody>
      </p:sp>
      <p:sp>
        <p:nvSpPr>
          <p:cNvPr id="165" name="Google Shape;165;p13:notes"/>
          <p:cNvSpPr txBox="1"/>
          <p:nvPr/>
        </p:nvSpPr>
        <p:spPr>
          <a:xfrm>
            <a:off x="3884612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174" name="Google Shape;174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Discuss about the results from the Project</a:t>
            </a:r>
            <a:endParaRPr/>
          </a:p>
        </p:txBody>
      </p:sp>
      <p:sp>
        <p:nvSpPr>
          <p:cNvPr id="175" name="Google Shape;175;p14:notes"/>
          <p:cNvSpPr txBox="1"/>
          <p:nvPr/>
        </p:nvSpPr>
        <p:spPr>
          <a:xfrm>
            <a:off x="3884612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184" name="Google Shape;184;p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Provide the list of references as per journal format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Avoid putting links as Google.com, Wikipedia.com etc…. Provide the http link of the page or article refered</a:t>
            </a:r>
            <a:endParaRPr/>
          </a:p>
        </p:txBody>
      </p:sp>
      <p:sp>
        <p:nvSpPr>
          <p:cNvPr id="185" name="Google Shape;185;p15:notes"/>
          <p:cNvSpPr txBox="1"/>
          <p:nvPr/>
        </p:nvSpPr>
        <p:spPr>
          <a:xfrm>
            <a:off x="3884612" y="8685212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98989"/>
                </a:solidFill>
                <a:latin typeface="Batang"/>
                <a:ea typeface="Batang"/>
                <a:cs typeface="Batang"/>
                <a:sym typeface="Batang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98989"/>
                </a:solidFill>
                <a:latin typeface="Batang"/>
                <a:ea typeface="Batang"/>
                <a:cs typeface="Batang"/>
                <a:sym typeface="Batang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400"/>
              <a:buFont typeface="Batang"/>
              <a:buNone/>
              <a:defRPr b="0" i="0" sz="1400" u="none" cap="none" strike="noStrike">
                <a:solidFill>
                  <a:srgbClr val="898989"/>
                </a:solidFill>
                <a:latin typeface="Batang"/>
                <a:ea typeface="Batang"/>
                <a:cs typeface="Batang"/>
                <a:sym typeface="Batang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400"/>
              <a:buFont typeface="Batang"/>
              <a:buNone/>
              <a:defRPr b="0" i="0" sz="1400" u="none" cap="none" strike="noStrike">
                <a:solidFill>
                  <a:srgbClr val="898989"/>
                </a:solidFill>
                <a:latin typeface="Batang"/>
                <a:ea typeface="Batang"/>
                <a:cs typeface="Batang"/>
                <a:sym typeface="Batang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400"/>
              <a:buFont typeface="Batang"/>
              <a:buNone/>
              <a:defRPr b="0" i="0" sz="1400" u="none" cap="none" strike="noStrike">
                <a:solidFill>
                  <a:srgbClr val="898989"/>
                </a:solidFill>
                <a:latin typeface="Batang"/>
                <a:ea typeface="Batang"/>
                <a:cs typeface="Batang"/>
                <a:sym typeface="Batang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400"/>
              <a:buFont typeface="Batang"/>
              <a:buNone/>
              <a:defRPr b="0" i="0" sz="1400" u="none" cap="none" strike="noStrike">
                <a:solidFill>
                  <a:srgbClr val="898989"/>
                </a:solidFill>
                <a:latin typeface="Batang"/>
                <a:ea typeface="Batang"/>
                <a:cs typeface="Batang"/>
                <a:sym typeface="Batang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400"/>
              <a:buFont typeface="Batang"/>
              <a:buNone/>
              <a:defRPr b="0" i="0" sz="1400" u="none" cap="none" strike="noStrike">
                <a:solidFill>
                  <a:srgbClr val="898989"/>
                </a:solidFill>
                <a:latin typeface="Batang"/>
                <a:ea typeface="Batang"/>
                <a:cs typeface="Batang"/>
                <a:sym typeface="Batang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400"/>
              <a:buFont typeface="Batang"/>
              <a:buNone/>
              <a:defRPr b="0" i="0" sz="1400" u="none" cap="none" strike="noStrike">
                <a:solidFill>
                  <a:srgbClr val="898989"/>
                </a:solidFill>
                <a:latin typeface="Batang"/>
                <a:ea typeface="Batang"/>
                <a:cs typeface="Batang"/>
                <a:sym typeface="Batang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400"/>
              <a:buFont typeface="Batang"/>
              <a:buNone/>
              <a:defRPr b="0" i="0" sz="1400" u="none" cap="none" strike="noStrike">
                <a:solidFill>
                  <a:srgbClr val="898989"/>
                </a:solidFill>
                <a:latin typeface="Batang"/>
                <a:ea typeface="Batang"/>
                <a:cs typeface="Batang"/>
                <a:sym typeface="Batang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400"/>
              <a:buFont typeface="Batang"/>
              <a:buNone/>
              <a:defRPr b="0" i="0" sz="1400" u="none" cap="none" strike="noStrike">
                <a:solidFill>
                  <a:srgbClr val="898989"/>
                </a:solidFill>
                <a:latin typeface="Batang"/>
                <a:ea typeface="Batang"/>
                <a:cs typeface="Batang"/>
                <a:sym typeface="Batang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400"/>
              <a:buFont typeface="Batang"/>
              <a:buNone/>
              <a:defRPr b="0" i="0" sz="1400" u="none" cap="none" strike="noStrike">
                <a:solidFill>
                  <a:srgbClr val="898989"/>
                </a:solidFill>
                <a:latin typeface="Batang"/>
                <a:ea typeface="Batang"/>
                <a:cs typeface="Batang"/>
                <a:sym typeface="Batang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1.jpg"/><Relationship Id="rId3" Type="http://schemas.openxmlformats.org/officeDocument/2006/relationships/slideLayout" Target="../slideLayouts/slideLayout1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9094787" y="0"/>
            <a:ext cx="3097212" cy="841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862012" cy="849312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1"/>
          <p:cNvSpPr txBox="1"/>
          <p:nvPr>
            <p:ph type="title"/>
          </p:nvPr>
        </p:nvSpPr>
        <p:spPr>
          <a:xfrm>
            <a:off x="838200" y="365125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" type="body"/>
          </p:nvPr>
        </p:nvSpPr>
        <p:spPr>
          <a:xfrm>
            <a:off x="838200" y="1825625"/>
            <a:ext cx="1051560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898989"/>
                </a:solidFill>
                <a:latin typeface="Batang"/>
                <a:ea typeface="Batang"/>
                <a:cs typeface="Batang"/>
                <a:sym typeface="Batang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" name="Google Shape;15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898989"/>
                </a:solidFill>
                <a:latin typeface="Batang"/>
                <a:ea typeface="Batang"/>
                <a:cs typeface="Batang"/>
                <a:sym typeface="Batang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" name="Google Shape;16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400"/>
              <a:buFont typeface="Batang"/>
              <a:buNone/>
              <a:defRPr b="0" i="0" sz="1400" u="none" cap="none" strike="noStrike">
                <a:solidFill>
                  <a:srgbClr val="898989"/>
                </a:solidFill>
                <a:latin typeface="Batang"/>
                <a:ea typeface="Batang"/>
                <a:cs typeface="Batang"/>
                <a:sym typeface="Batang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400"/>
              <a:buFont typeface="Batang"/>
              <a:buNone/>
              <a:defRPr b="0" i="0" sz="1400" u="none" cap="none" strike="noStrike">
                <a:solidFill>
                  <a:srgbClr val="898989"/>
                </a:solidFill>
                <a:latin typeface="Batang"/>
                <a:ea typeface="Batang"/>
                <a:cs typeface="Batang"/>
                <a:sym typeface="Batang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400"/>
              <a:buFont typeface="Batang"/>
              <a:buNone/>
              <a:defRPr b="0" i="0" sz="1400" u="none" cap="none" strike="noStrike">
                <a:solidFill>
                  <a:srgbClr val="898989"/>
                </a:solidFill>
                <a:latin typeface="Batang"/>
                <a:ea typeface="Batang"/>
                <a:cs typeface="Batang"/>
                <a:sym typeface="Batang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400"/>
              <a:buFont typeface="Batang"/>
              <a:buNone/>
              <a:defRPr b="0" i="0" sz="1400" u="none" cap="none" strike="noStrike">
                <a:solidFill>
                  <a:srgbClr val="898989"/>
                </a:solidFill>
                <a:latin typeface="Batang"/>
                <a:ea typeface="Batang"/>
                <a:cs typeface="Batang"/>
                <a:sym typeface="Batang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400"/>
              <a:buFont typeface="Batang"/>
              <a:buNone/>
              <a:defRPr b="0" i="0" sz="1400" u="none" cap="none" strike="noStrike">
                <a:solidFill>
                  <a:srgbClr val="898989"/>
                </a:solidFill>
                <a:latin typeface="Batang"/>
                <a:ea typeface="Batang"/>
                <a:cs typeface="Batang"/>
                <a:sym typeface="Batang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400"/>
              <a:buFont typeface="Batang"/>
              <a:buNone/>
              <a:defRPr b="0" i="0" sz="1400" u="none" cap="none" strike="noStrike">
                <a:solidFill>
                  <a:srgbClr val="898989"/>
                </a:solidFill>
                <a:latin typeface="Batang"/>
                <a:ea typeface="Batang"/>
                <a:cs typeface="Batang"/>
                <a:sym typeface="Batang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400"/>
              <a:buFont typeface="Batang"/>
              <a:buNone/>
              <a:defRPr b="0" i="0" sz="1400" u="none" cap="none" strike="noStrike">
                <a:solidFill>
                  <a:srgbClr val="898989"/>
                </a:solidFill>
                <a:latin typeface="Batang"/>
                <a:ea typeface="Batang"/>
                <a:cs typeface="Batang"/>
                <a:sym typeface="Batang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400"/>
              <a:buFont typeface="Batang"/>
              <a:buNone/>
              <a:defRPr b="0" i="0" sz="1400" u="none" cap="none" strike="noStrike">
                <a:solidFill>
                  <a:srgbClr val="898989"/>
                </a:solidFill>
                <a:latin typeface="Batang"/>
                <a:ea typeface="Batang"/>
                <a:cs typeface="Batang"/>
                <a:sym typeface="Batang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400"/>
              <a:buFont typeface="Batang"/>
              <a:buNone/>
              <a:defRPr b="0" i="0" sz="1400" u="none" cap="none" strike="noStrike">
                <a:solidFill>
                  <a:srgbClr val="898989"/>
                </a:solidFill>
                <a:latin typeface="Batang"/>
                <a:ea typeface="Batang"/>
                <a:cs typeface="Batang"/>
                <a:sym typeface="Batang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3"/>
          <p:cNvSpPr txBox="1"/>
          <p:nvPr/>
        </p:nvSpPr>
        <p:spPr>
          <a:xfrm>
            <a:off x="1038262" y="1275525"/>
            <a:ext cx="9988500" cy="25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4000">
                <a:solidFill>
                  <a:schemeClr val="dk1"/>
                </a:solidFill>
                <a:latin typeface="Bell MT"/>
                <a:ea typeface="Bell MT"/>
                <a:cs typeface="Bell MT"/>
                <a:sym typeface="Bell MT"/>
              </a:rPr>
              <a:t>Real-Time IoT Platform for</a:t>
            </a:r>
            <a:endParaRPr b="1" sz="4000">
              <a:solidFill>
                <a:schemeClr val="dk1"/>
              </a:solidFill>
              <a:latin typeface="Bell MT"/>
              <a:ea typeface="Bell MT"/>
              <a:cs typeface="Bell MT"/>
              <a:sym typeface="Bell M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4000">
                <a:solidFill>
                  <a:schemeClr val="dk1"/>
                </a:solidFill>
                <a:latin typeface="Bell MT"/>
                <a:ea typeface="Bell MT"/>
                <a:cs typeface="Bell MT"/>
                <a:sym typeface="Bell MT"/>
              </a:rPr>
              <a:t>Forensic Evidence Tracking and Audit</a:t>
            </a:r>
            <a:endParaRPr b="1" sz="4000">
              <a:solidFill>
                <a:schemeClr val="dk1"/>
              </a:solidFill>
              <a:latin typeface="Bell MT"/>
              <a:ea typeface="Bell MT"/>
              <a:cs typeface="Bell MT"/>
              <a:sym typeface="Bell M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4000">
                <a:solidFill>
                  <a:schemeClr val="dk1"/>
                </a:solidFill>
                <a:latin typeface="Bell MT"/>
                <a:ea typeface="Bell MT"/>
                <a:cs typeface="Bell MT"/>
                <a:sym typeface="Bell MT"/>
              </a:rPr>
              <a:t>Logging</a:t>
            </a:r>
            <a:endParaRPr b="1" sz="4000">
              <a:solidFill>
                <a:schemeClr val="dk1"/>
              </a:solidFill>
              <a:latin typeface="Bell MT"/>
              <a:ea typeface="Bell MT"/>
              <a:cs typeface="Bell MT"/>
              <a:sym typeface="Bell M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Bell MT"/>
              <a:buNone/>
            </a:pPr>
            <a:r>
              <a:t/>
            </a:r>
            <a:endParaRPr b="1" sz="4000">
              <a:solidFill>
                <a:schemeClr val="dk1"/>
              </a:solidFill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27" name="Google Shape;27;p3"/>
          <p:cNvSpPr txBox="1"/>
          <p:nvPr/>
        </p:nvSpPr>
        <p:spPr>
          <a:xfrm>
            <a:off x="7253250" y="3576825"/>
            <a:ext cx="4785600" cy="24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0" lang="en-US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Presented by</a:t>
            </a:r>
            <a:endParaRPr sz="16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1)Sanjay.S           (722822106139)</a:t>
            </a:r>
            <a:endParaRPr b="1"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2)Saran.K           (</a:t>
            </a:r>
            <a:r>
              <a:rPr b="1"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722822106145</a:t>
            </a:r>
            <a:r>
              <a:rPr b="1"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b="1"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3)Shanjith.V       (</a:t>
            </a:r>
            <a:r>
              <a:rPr b="1"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722822106150</a:t>
            </a:r>
            <a:r>
              <a:rPr b="1"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b="1"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4)Shrivarshan.C (</a:t>
            </a:r>
            <a:r>
              <a:rPr b="1"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722822106154)</a:t>
            </a:r>
            <a:endParaRPr b="1"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" name="Google Shape;28;p3"/>
          <p:cNvSpPr txBox="1"/>
          <p:nvPr/>
        </p:nvSpPr>
        <p:spPr>
          <a:xfrm>
            <a:off x="323850" y="3830637"/>
            <a:ext cx="6626100" cy="21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Guided by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</a:t>
            </a:r>
            <a:r>
              <a:rPr b="1" lang="en-US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Mr. Surenderkumar S</a:t>
            </a:r>
            <a:endParaRPr sz="1700"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ASSISTANT PROFESSOR (</a:t>
            </a: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B.E.,M.E.,(Ph.D)</a:t>
            </a:r>
            <a:r>
              <a:rPr b="1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DEPARTMENT  OF ECE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SRI ESHWAR COLLEGE OF ENGINEERING.</a:t>
            </a:r>
            <a:endParaRPr/>
          </a:p>
        </p:txBody>
      </p:sp>
      <p:sp>
        <p:nvSpPr>
          <p:cNvPr id="29" name="Google Shape;29;p3"/>
          <p:cNvSpPr txBox="1"/>
          <p:nvPr/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400"/>
              <a:buFont typeface="Batang"/>
              <a:buNone/>
            </a:pPr>
            <a:r>
              <a:rPr lang="en-US">
                <a:solidFill>
                  <a:srgbClr val="898989"/>
                </a:solidFill>
                <a:latin typeface="Batang"/>
                <a:ea typeface="Batang"/>
                <a:cs typeface="Batang"/>
                <a:sym typeface="Batang"/>
              </a:rPr>
              <a:t>19-11-2025</a:t>
            </a:r>
            <a:endParaRPr/>
          </a:p>
        </p:txBody>
      </p:sp>
      <p:sp>
        <p:nvSpPr>
          <p:cNvPr id="30" name="Google Shape;30;p3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400"/>
              <a:buFont typeface="Batang"/>
              <a:buNone/>
            </a:pPr>
            <a:fld id="{00000000-1234-1234-1234-123412341234}" type="slidenum">
              <a:rPr b="0" i="0" lang="en-US" sz="1400" u="none">
                <a:solidFill>
                  <a:srgbClr val="898989"/>
                </a:solidFill>
                <a:latin typeface="Batang"/>
                <a:ea typeface="Batang"/>
                <a:cs typeface="Batang"/>
                <a:sym typeface="Batang"/>
              </a:rPr>
              <a:t>‹#›</a:t>
            </a:fld>
            <a:endParaRPr/>
          </a:p>
        </p:txBody>
      </p:sp>
      <p:sp>
        <p:nvSpPr>
          <p:cNvPr id="31" name="Google Shape;31;p3"/>
          <p:cNvSpPr txBox="1"/>
          <p:nvPr/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400"/>
              <a:buFont typeface="Batang"/>
              <a:buNone/>
            </a:pPr>
            <a:r>
              <a:rPr b="0" i="0" lang="en-US" sz="1400" u="none">
                <a:solidFill>
                  <a:srgbClr val="898989"/>
                </a:solidFill>
                <a:latin typeface="Batang"/>
                <a:ea typeface="Batang"/>
                <a:cs typeface="Batang"/>
                <a:sym typeface="Batang"/>
              </a:rPr>
              <a:t>Batch no : 10</a:t>
            </a:r>
            <a:endParaRPr/>
          </a:p>
        </p:txBody>
      </p:sp>
      <p:sp>
        <p:nvSpPr>
          <p:cNvPr descr="data:image/jpeg;base64,/9j/4AAQSkZJRgABAQAAAQABAAD/2wCEAAkGBxASEBUSEBIVFhUXGBcXFRcVFRgYGRUWFRUYGBgYGBgYHiggGBolHhUWIjEhJSkrLi4uGh8zODMtNygtLisBCgoKDg0OGBAQGi0fHyYtLSsxLS0tLS0tLSsyKy8rLS0rKy0tLS0tLS0tMDctLSsrLS0tLS0tListLS0rLSstN//AABEIAOEA4QMBIgACEQEDEQH/xAAcAAEAAgMBAQEAAAAAAAAAAAAABAUBAwYCBwj/xABPEAACAQIDBQIHDAYHBgcAAAABAgMAEQQSIQUTMUFRImEGFDIzcXOBFSM0QlJTVHKRsbPTB2KTlLLSJIKSobTB0UNjg6PD4URkdHWi5PD/xAAZAQEBAAMBAAAAAAAAAAAAAAAAAQIDBQT/xAAnEQEAAgECBQQCAwAAAAAAAAAAAQIRAyEEMUFRcQUSExVSYTIzgf/aAAwDAQACEQMRAD8A+40pSgUpSgUpSgUpSgUpSgUrF6gbaxTxxgoQCWVcxFwuY8bcL8hfS5F6CwpVD4O7RmkJWUOOyHtIFDpdmWzZAAQctxoDxvyq9vRZjCNiNowxsFkkVSeAZgDqbDjUkGqHGiSN3QRCTxlrISwAU7o3WS+uQCNj2b8ToL3q4wMJSJEJuVVQSeJIAFzRG+lUu3ds+L9AAMzM1yFBbKBZRckm/ot7KnbMxZlTMRZgSrC9xdTY2PMc6LjbKZSlKIUpSgUpSgUpSgUpSgUpSgUpSgUpSgUpSgUpSgVHx6O0bCM2cghT0P2H7jW+9KCu2C7tArObk34m5AzEAE2GYi1r2F6nyRhgQwBB0IIuCO8VC2F8HT2/xGm08S4KxRD3x75SeCKuXM562zCw5kiggbHgh8XMCkIXM+iWDW3rrmHoAA9lbdh4VvElAfK0iFgVFhG0gv2FJNgL8L1rTZsceKgIF2EUwzHVj2o2JJ9LsfbWNnbR3ceEiyM29jHaFrLlQG7f3UXGeTTsxXyYQu2YtM7DUnKPF5hlBbU8Dx610tc/g/N4L1jfgT10FEU/hLhhuHlBKuiMUZTYju7xoND0raMTBh3jw97M+bINSWI1Ylup43PGvPhDKDC0Q1eRSqKOJPXuUczwr1igPGofqTffFRYnusgazXlWr1RClKUClKUClKUClKUClKUClKUClKUClKUCsGs0oKVsVivHhFZNxuy1/jXBt95FXNV5+GL6lvxFqwIoszlA2Cf6On9b+NqxP8Mi9VP/AB4esTbMsxeBt251ItdHP66df1hY1ElkZ3UEbrEJmyX1jlBALKGHEHKptowyg20oiZiPhcPq5/vhqBsz/wAF6h/4Yqjz49p5F3QKtlaHrlkdgZeHyFivf9detWECA4hFiFkw6MhPIMwXKg6kBbn0j2BHwXm8F6xvwJ6tNo4lkChAC7sEW+guQTc9wCk1VwwNlEAIWWE54mPkupDKDbmLOysOV79K3PjBIYNCrLNZ0PFG3MmneOh5ig1YuJolyxsXxMtrtpfKpu3G4RACQNCLkcTetkaSb3DrK133c9yOt47cAATa3ICpa/Cz6lfxGrziD/S4fqTffFQV+y55osEZpGzkqHXMzELcAXJbW17sQNAOFe9jbUmaUxyXtdwMyBDePL2lsdYzm0PHhU3YSg4SEHUbtQb89Kj+DmDjRHKqAd7Mt+eVZnCqDyUAAAcBRYwuqUpRClKUClKUClKUClKUClKUClKUClKUClKUFcx/pg9S34i1Y1CxuAzsHV2R1BAZbcCQbMp0YXA7++tAx0sfn47j5yIEj+smrL7Mw76C0qvx3nsP6x/wZKlYbEJIuZGDKeYNxUbHeew/rH/BkoOa2MxEspHEPjSPYMPXT7GiCwRgDiik95YXYnqSSSTXL7I85L9bG/dh66vZfmIvVp/CKDRtJRvsMee9Yew4eYkei4H2CoOOFsalv91/Diqn7SPvuG9a3+HmqBj/AIan/C/hxVBjB4giNJQM+IxKhgOAVQAbX+LGmf0kt1NZgzZ2WEiSY6SzMOxH+oB3ckHpY9a6dyuFw5UkEYGWxHEdnD8K6vDwIihUUKo0AHKg8YDDCKNIwSQqhQTa5sLXNtL1F2D5t/X4j8d6nyyBQWYgAC5J4ADmagbAvuibEBpJnW4sSrysym3K4INBZUpSgUpSgUpSgUpSgUpSgUpSgV5dwBc6Aak9BXqou0sOJYnjJtmUrfpccaDxhNqQyNlRiTa4urLmHVcwGYajUX41MvXN4PYMm8LSMVBdpDu5WJLsuXQlRkS3xdbm2ulWnuUPnp/2zUWcdFhel6r/AHJHz0/7Zq0s74ZruzPAeLMbtEepPOM6ej0cCLelYBrNBAn2WhYuhMbn48ehP1gQVb2g1Cw07P4qz2LbyQEgWByxyre1zbhV5XP7O8nC+tm+6agqtkD3yX6+N/hw9dTsth4vEeW7Q/8AwFc7hcK2YGO2ZmnlTukimKN7HRwp+qKstlTcUUWR49/ED8QP5SHuBNx6SOVBswXaHjcxsMuaMHhFGRe5/XI4n2emGxLTRSvdWd7qh0KQxxy9puhJk16XUVswi51wsTeQIFlYfKKCMKD3Ate3UCoxbeKrubb+MyyH5GGjCsI17znUH0t3UEabtYaFBxGECW/XxG6EY9PvbE9AL1108yopZiAoFyTwArntnqBIZJrKEUTt0DShlX2JHGF9pqfDA07CSYEIDeOM8+jyDrwIXl6eAYjhbEEPICsQ1SMixc8nkHTovtPQWwoBWaATUKfa+HRiryorDiCRcVtx2JEcbO2uUcBxJ5Ad5NhWvZWGKRjPq7XeQjm7atbuHAdwFBq93cJ8/H/aFasT4R4RELGZSALnKbn2AVbVrliDAqwBB0IIuD6RRYxndrwOMSaNZIzdWAKnhoakV4ijCgKoAA0AAsAK90J/RSsA1miFKUoFYNYe/KuK2fj8QZgFfNJ2Lq0jHU+dDxaiJV1sQBwGpvRYjLopNuRLM0LBwVAJIjZlOboVBqPtTGwzR5MzjUHWCYqbcmGUXHdcVLBxfyYP7b/y1olxUzK8Wkc9gy2N1ZMwzFWK8eI1GhINiKEoeHmVEVfHMUcoAucOCTYW1JgrdFKzkrFi5C4FwssSKGt/wlJHeDpW7BbWWNQmLkWOUXvvGVQ4voynQMLWvbnyFbJ58NibJHPGXXtIY3VmQj4wse/Xre1EStnYwSpe2VgcrqeKMOIP+R5jWpLLfjXOyYl1fObJMOzICshjlX4rKVB9nMag1s92ZekX2T/l0EhScKbHWAnQ/Mk/FP8Au+nT0Wtbg1SQbZVlO9VcnBnjJdF6iQWDJ35hbvr3ho5kFsO8TxGxTO7XUH4oZQcy9OnCgua5fZeNjIwYDeXLiCuh1yibNy5Xrnv0q7TxsWBe0kMYvEbxSyCa+8+KLDs6a69a+V4SHFFI2XFyiwugDv2M41y2bS99bdaxtaK827R0L6s4pGX3TY2OjaSDK17rjWGjaqMSoJ4Vq2XtWEJh3LdlsAZFOVtUURszWtpowNuNfFI8JiltlxkosCBZnGUMbsBZtATqa8rgMQAFGLksqGNRmayxkAFAM2ikACw6Vj8tO7f9fxH4vumDx0aNEGa27wJkfRtEJj14a+Q2g10qA20YlgGZiNzs5jL2W7AlWLJy1vu30F/JNfHPFMV9Ml1XIe0/kD4nleT3cK8tgsSQwOLlIZQrDM3aVeCt2tQOlT5qdz6/iPxfa9p4+MRYvMT2Y8NA3ZbSWS4ReGtzNGLjTtdxrrxX5hxkGJEbs2LlYGzsCzdpksVJ7WpGVbHlYV9Z/RntPGyYKK8mHkHb85NIZjZz5QynT/Ks62i3Jo1tC+jOLxh9GpVZvMZ8jD/tH/kpvMZ8jD/tH/krJpYxHvuIWP4sVpH6Fz5tT6NW9i1ZgVC2ZhjGhzkF2YvIRwzNyF9coAAHcKm5h1oMmq2TGytIyQKhCWDs7EDOdcoyg3IFifrCtm08YUQBNZHOWMdWPM9wALHuFacPiMNh1ETzRhhq2eRQzM2pYgnmbmg95sZ8mD+2/wDLWufx0qQogUkEA5nNiRobZdakw7Uw7sFSaJmPALIpJ9ABvUu9BC2RHMsdpmu1zbUEheQJAAJ77Cp1YzCgNBmlKUGKWqtxU8rTbmJlSyByzKWvmZlAAuNOybnvFasFth2S5gkYgspMYUoSjFSVLNextfWguKh7RwYkUWOV1OZHHFG6+ixII5gmtfum30af7I/56e6TfRp/sj/noNUONnA7eEkzcyjQ5Seq5pAbekA1F2rjlKgTYeRNboxkwylWHNSZtDU2TaMlrLhpb8s27Vb95zGw9hqJGUjf3wNNiGF2CKDkXooJsidLm576CuG2nH+3P24L86vUe2JWICysSeABwZJ9AE9XHjn/AJSX+zH/AD14fEwuRHNAyB9BvFXKx6XUmx9NqCrdJGk7QO+A0VgsMxUc4pUYo46qSR1tWsRRX18WvfXf4M7y/PMVIBPeBY1ZYzCsi5ZA0sPEHUywnkQeLAdR2h31pTaSgWGPQjlmjBb2m4ufZQfPf0pPCMIyKMBmO7IMamPEW3nxEIN00Oub5Wmlcrs/zKfVX7hXafpY2hnwbqMZhZB72THurTn3zQq28sE04ZTwbXXTlPBvCCUwRE2D5FuOVwK0a+8RDrelWitrTPSHmldJtbZOAgaSM4mUyJcW3Wha1wM1R9leD4eHxjESiGG9gbXZz0UV55pOcOvHFUmvumJiPHPwo6VcYrAYTNEuHxDPndUYNHlKhjbMOtT9qbFwEEjRPipc68t1cXIuNR6anskniqZiMTv+nHbT8zJ9U/dXZfoxnhOFjRk2azAPfeyBZ7Zz5YMZ01HPpXG7S8zJ9U/dXcfow2hlwcStisCBZ7RPEd8DnOrOJdRz8kcq9HD8pcj1b+dfDr23HzOzf2q/lVGkxKCx8QwpU8GLIgb0CVFJHeBapz7RUiwnww9XEWf+qMx19hrfg8BKbsqrHfi0y72WTvazAIOi3Ps4V6HJU/j0f0DCftYP9KePR/QMJ+1g/wBK6L3Om+di/dx/PT3On+di/dx/PQUWGx9jePDYeE8DLGVkKA8TliUn7bDrV5gcTg40AWaI31JaRCzMeLMb6k1GxUQTTFKrJ8WaNShjJ07ViSv1gbdbcykLcLicO45GUKX9rKwDem320EvFYnByKUaWEg/7xQQRwIN9COtQsHtSQyGCOSCZlGa5kYNkOgzZUZSe8H2CvTYm3+1wepAHZ5ngPLqUuFnBzDxcG1riJgbdL5uFF8qbb74nMN4sajs5e3K0Z7R3lyqqc9suW4621q/2KX3K581+1bN5WTMcmb9bLlvWnY64rteMEHhlta19cxW3BPJsD2uN71aAVDO2ClKzWSIuMwEcts63I4G5BAPEXUg2PSo+0cAWiWOEiMKRYC4XKARl7BBA56HkKsSaptoL4ytsNiFBUnMUc6EqQDdDxB1sdDzqDbDs6UKAcZOSAATaDWw4+aqsi2iCzqcRjQUYr8HRgbcwUgItUjG4oRSLHJjJQzglQIo2JA4+TEaeND6ViP3Yfk0XGHg4tfpWM/dv/rVabHWER3hNwSSW1zM3MuTrm9NVjY8rqmIka3FZcOwUj6yRqVPfr6K8DFox3qZopDa5VGmilHfutG7jdWFEdLWnFYdZFKOoZTxB51S+6U3zyfuOJ/Mp7pzfPJ+44n8ygmphMQoypOpUcN5EXa3QsHF/Ta9Q5NpkEg47DAjQ+9cP+bUfE4l3HvjtIBqVWJ8PHbrLJIT2R0B16GveHxYyj+kOo5LDhjuwOQUtGxI7760HC/pY2gr4R18cikb3r3tILXG8Ou8uxHDhm5d9UHgV57CfWj+4V0n6WcexwTxied0O6JD4QqhO95zhFVT2R2fR1rkNg4pohDItiUCML8LgDjatGt0l1PTazb3xHZ1vhhisH4xOvi777MRvN4bZrccnTurz4UITgMCyebEeVrcA9he/fxqJivCppCxfC4Us3FjES3puW41F2R4Qz4dSi5HjPGOUZlrXNq5nfm92nw+pFazjeO889sf4h7LHv8XrE/jFdV4aYvBDFSq+HdpbDt7whblBY5eg00qix235JDHaKGMRsHCxJlBYdddamYnwveRiz4TCMx4s0RJ+0tWNZrETGWzU09S963mvSev7cltLzL/VP3V236L9pImEhXx6JGtJ71Jh9B2zrvbqW9Gbn3VxW0/MyfVP3V3X6LtqSLgok8YMagPYS4VhCPfDwxF1DNrwzdelbtDlLn+rf2V8O192f/PYP9mfz6mA4oqHSbDuLXAETgMO596bemxqKu1GJsuNwTE8AFOp6eeP3GsQFg53Q3UurPAx7EnV4yNLn5Q/rAGt7krbAY5ZAdCrro6Hih6HqOhGhqXVHNPhJCDPAc40s+HZivUZgpBHoNq15NnfR1/dX/koLLaGOWOygZ5GvljHFupN9FXqTpUVcJN81hR3ZSbe21aoWS+TBQhC1sz7ooqAcCbgZ26KPbYVLj2Hh7duNZG+M8ihmY8ySR/dwHKgi4nZLvYPFhTYhh2W0I4GpTDF203Hd5devcTCfR4f2a/6U9xMJ9Hh/Zr/AKUGjZ800cLvi9MuvIm1hfyNLZrhRxta+tNlbfinkaNcwZb3DZTw4+STqL6iveI2BhWUgQxqeIZUUMrA3VlNtCCAR6K07K2EsMjS3XM1/ITICWOrMLm7fYBc6amosYxOVzelYpVYou1sM0kLotrsLC/A9xtyPD21RbM2VOZMztLGAXIYtFmyta0S5cw3a2J1tryHPqLUsKMonbCrl2bIO1HO5ccN4EZT3Gyg2PcRXqLbCAWlV43GjLkdhfuZRZh3irKgFEVs22Y7e9B3c6KoRxc95YWUd5qnxGz4DI2+Mjy6GTcw5lBPAXEZ1tyJvqDzFdBtLFbtMwF2NlRflO2ij/vyF6bNwm7SxN2JzO3ynPE/5DuAoOc9ysL0xX7ufyqe5WF6Yr93P5VddUHas7KoWPzkhyJ3E6lv6qhm9lBQLszCgg2xVwbj+jnQjn5qpu8HzuN/Yt+VU73Nf6VP/wAr8unua/0qf/lfl0Hzb9LRkODez40x+93Ekcaw5t58YsglzcLW04d9cXgPNJ9VfuFfWPDvwMlxeGZIsRK0hyWWWXLFZXzEsiLlLcdbX4dK+XYLwP2mww4SWICbeLHcnTc3zZjk00U2rVq0m0PdwPFV0LTNilYwPgttOUxhZovfElkW50CwuEa5y8ydO6tcXg5tJo4pBLHaXDvilF9REiqxBAXRu2umvOtPwS6f22l2ltpXpvBLagJG+i7OH8aOuhj10HZ8rT0a1qm8GtpKkzGWO0MMc7i+pSUMVA7Gp7Bp8En22l2lp2l5mT6p+6u5/RdLMuDh98xqpZwAsEUkAOc6rkUy348dONcZj/BLaSpPvJYisTwxSWPE4gxqpHZ8kb0EnS1jxtX1bwK8DpcJho0kxEyyrmBEUxaIAuSMsbqVBtbXLfjW7Sp7YczjuJrr3i1VjPiWKkGSVgeKyYKXIR+tZAbd9QsylQGKLHfsmRTPCrfqSKytF0s9ugq7kwuIj7cc0kpHGOTd2ccwCqLZuhvbrRcLDON7EWRjoWTsvccVcEEEjhZga2vCpxBD9IwH9g/n17hwSOcqTYFm6LGxP2Cerb3Ib6TP9kP5VRcThchCTOzIxG7lIUPFLy1RQADyNuNwb3FBrjTCr2cRCsbjjoxVh8pGHEd3Ec62x4bAyHJHlDEXBUsrC3Nb8xpwqVhtpBCY8SypIvMkKsg4B1v/AHrxB7rE69q4jDTRFRPCGtdG3i9huTDXQ0G/Z2La5im84ouDykTk46HkRyPcRVga5+EwmJVmxUe8ViyukylkudAHbytNCSNeYr2m7Zgq7QkLNwCvASbanhHQWU+0oUbK8iqdNCeF+F+l++pYNctithT5zlZnBLG7uAGzoEImUL2lW1xbqRpe9dLhosqKt72AFzzsAL0XZtpSlEKh7UikaMrE2VrjmVuARcZgCVuLi9ja9TKUFRhtmT5Bnxc2a2uXdWv3Zoybek3rb7mSfS8R9kH5VWVasTOsaM7myqCSegHGgiQbLs4d5pZCt8okyWUniQERdbaXPU1YVUYTwlwciB1nQA/KOU+0HUVu93MJ8/H/AGxRZjG0rAmqzB++zvL8VLxR95B98b7QF/qnrWvGbaiZcmHlRpWsqAHNZj8YgchqT6KscHhljjVE4KABfU6cyeZ50RvpStcsqqCzEADUk6ADrQZkcAXJAA1JPAAVQYLyMIeHalPsKSkH7CDUqNDiTmcEQA3VCLGXozjknRTxtc8qgbVm3khF7KuaMHoAubESexLRg9XNA2b5pf8A0SX+xv8AvUmEdpf/AEn+a1GhUvmU9jOqtMfmcOAd3CD1IuT0zMeYqbhVLh5yMqmMpEvC0YBOY97aWHIAc70Fdih7yP8A2+X+GOt+1fKnt9Hg/FlrduD4tBKgu8caG2nbQoudO+41HeBVNj5AgyqbqyKqnrBIHkiv3q0br6GoLba4+Geqj/6ldDXPbX/8Z6qP/qV0NANVeMwrRsZoBc/7SPgJQOY6SAcDzAseVrSsGg04PFLIgdDcH2EdQQdQe416xMCupVxdSLEHmKg4jByI5lw+W7ecjYlVf9YEA5X77G4076z4xi/o8f7wfyqDwmExIAXPE4GgMkbFrcsxzWLWtc86xJhsSAbDDE20G7YXPIXzaVs8Yxf0eP8Abn8qqXau0MSJMrDd+RZUmUdli2eTO6jNlsOzbnre4osRlb7GWRoycREitmsLIBdbDUgFra5hx1AB51KbZ0JdXMa5kvlbKLrcWNq87HlZ4UZ+JHG1swubNblcWNu+ptDkxas0pRClKUClKUCvMiAixFwdCDzBr1Sg1QQKihUUKo4BRYD0AVtpSgxas0pQa55lRSzEBQLkngAKrIoWxDB5VIiGqRni55PIOnROXE66Ddt8e8H68X4yVYUCuVwo97mPTDPb+tLPf7bD7K6DHY9Y7CxZ28hF8pj3dB1J0FUUcRRZ0a2YYXtWNwCzTta/toPODXPM0B8hnzuPlCPDYQBD3EuCfq1aYlTPI0I0iS296uSAwjHRbFSTzvbrVbsj4Yf+J/h8DVxs7z2J9Yv4EVBNKALYch91cLtDyIPUYX8LFV3b8D6K4TaHm4PUYX8LFUHSy4cSS4mMkgNHECRxF95wrYMRiIvOpvF+XGLMB+tGSb+lSfQK94b4TN9WH/qVYGg0YPGRyjNGwYc7cj0I4g9xqRULFbMjc59Vfk6HK3tI8odxuK04WWVZt1IQ90Lq4GVrKyghhwv2uIt6KCzpSlArXLCreUoPMXANj7a2UoMAVmlKBSlKBSlKBSlKBSlKBSlKBSlKCu2/5g/Xh/GSt+1MQY4JZF4ojsL8LqpIv9lVXhNtEKN0AM14nJZwigb26i54lt2wA7uVSNp4oS4CZxcXimBB0KlVYMp7wQR7KGGncskhiiOaZlDSzuLlUJIFh6VayjQcT3+sThcoXCxab0O0jk3YoModifjO2dRflcnkBUmL4bJ6iH8SesO4bGKBrkhkDfql3iKg95CN9lBV4ciPFu50QSPHm5Kz4fB5LnkDkIv1tVnhnyYiVG03pV0PJgsaIy/WGS9uhFecDErvi1YXUzAEHUEHDQcqg4oEYbEqWJOHJaJz5QtEsi3PMjNa/McaC32njN2gAGZ2OWNL2LMR/cANSeQBrk9tRZCqXvkSCMkcMyRYkn+5lPtFdBiJVTETSMLiLDow7hmmLW7yEX7BUfZuCvMVmAYmEO44gvO7h+PEARIo7hQTYJlGLlUmxZIyoOmYLnzZetri9uFxVneqaHBgs2Gl7aKqvGSTmQEsLZuN1y6MNdft9SzS4ZSzEywqLknzkYHEn5wfYfTQXFV0nwxPUyfiR1PBqvkP9MT1Mn4kdBZUrF6zQKUpQKUpQKUpQKUpQKUpQKUpQKUpQKUpQVe09jLMwcmxsAbqrAhSWW4YcQWax/WNa9obHZsNuI2sNc92IMga+fMyi4JLZjbjw4GrisGgpGwzNNLGXIY4aFS40N88120rXglaMHDwEM+YmWXKckeblYklmAsAtzYAXPXdhcUrY+ZRe6wxA6HiHlPHno4qRsBRuF9Ln7ZG1osxhIwODWJbLc3OZmJuzsQAWY8zYD7BVTtHzO0PQf8ACx10Fc9tHzW0PQf8LHRHjasyl8aAQSMIAQDqD/SD9xH21YYf4W/qIfxJq8bawkawYmRVUO0MgZgNTaNrXNQ8Zi5Yp5HWIlfF0s58jMjvYHn8cfZUXGeSyjceNv6qO/d25Kx4R/A5/Vv/AAmt2zsEIwbnM7G7seLN/kBwA5CtPhH8Dn9W/wDCaqLGquTYinFris75lUplv2bG+tvb93SrQVmixMxyYArNKUQpSlApSlApSlApSlApSlApSlApSlApSlArBrNKCFtHEbpC4XM11UDhdnYKoJ5C7DWqnwW2mHURaMLOVdQyg5ZAHBVtRYuuvO/K1XuKwyyKUcXU8R/+4HvrRgdmpESwLMxFszsWNugJ4DnpxOpou2N02qDFYV5Ri40PlSICLlcy7mLMuYA5bi4varyYHKcvGxt6baVzez4FDRbuKRZgRv3ZXGYZe3vHOktzw1NtOFqIn47CzNg91mzSFAjkEAsDYSZSwsGKlrEi16jbWxDJhBHLYysmtioAy2zMWYhVGo58TXQWqt2zskTgAkCwI7S5lZSQSrLcXF1U6EG4FCMdUnAY1ZVLKCLGzA2uDYG2mh0INxxBFY2phN9C8YNswtfiLXFwba2PA+mvOy8CIUKg3JN2NgLmwUWA4ABQAOgqbSDboi7Nw7RxKjuXIvdjfmSbakmw4aknSpVKUClKUClKUClKUClKUClKUClKUClKUClKUClKUClKUClKUGDXkf5n7qUoPVDSlArNKUClKUClKUClKUClKUClKUClKUH/2Q==" id="32" name="Google Shape;32;p3"/>
          <p:cNvSpPr txBox="1"/>
          <p:nvPr/>
        </p:nvSpPr>
        <p:spPr>
          <a:xfrm>
            <a:off x="155575" y="-144462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4"/>
          <p:cNvSpPr txBox="1"/>
          <p:nvPr/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400"/>
              <a:buFont typeface="Batang"/>
              <a:buNone/>
            </a:pPr>
            <a:r>
              <a:rPr lang="en-US">
                <a:solidFill>
                  <a:srgbClr val="898989"/>
                </a:solidFill>
                <a:latin typeface="Batang"/>
                <a:ea typeface="Batang"/>
                <a:cs typeface="Batang"/>
                <a:sym typeface="Batang"/>
              </a:rPr>
              <a:t>19-11-2025</a:t>
            </a:r>
            <a:endParaRPr/>
          </a:p>
        </p:txBody>
      </p:sp>
      <p:sp>
        <p:nvSpPr>
          <p:cNvPr id="39" name="Google Shape;39;p4"/>
          <p:cNvSpPr txBox="1"/>
          <p:nvPr/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400"/>
              <a:buFont typeface="Batang"/>
              <a:buNone/>
            </a:pPr>
            <a:r>
              <a:rPr b="0" i="0" lang="en-US" sz="1400" u="none">
                <a:solidFill>
                  <a:srgbClr val="898989"/>
                </a:solidFill>
                <a:latin typeface="Batang"/>
                <a:ea typeface="Batang"/>
                <a:cs typeface="Batang"/>
                <a:sym typeface="Batang"/>
              </a:rPr>
              <a:t>Batch no : 10</a:t>
            </a:r>
            <a:endParaRPr/>
          </a:p>
        </p:txBody>
      </p:sp>
      <p:sp>
        <p:nvSpPr>
          <p:cNvPr id="40" name="Google Shape;40;p4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400"/>
              <a:buFont typeface="Batang"/>
              <a:buNone/>
            </a:pPr>
            <a:fld id="{00000000-1234-1234-1234-123412341234}" type="slidenum">
              <a:rPr b="0" i="0" lang="en-US" sz="1400" u="none">
                <a:solidFill>
                  <a:srgbClr val="898989"/>
                </a:solidFill>
                <a:latin typeface="Batang"/>
                <a:ea typeface="Batang"/>
                <a:cs typeface="Batang"/>
                <a:sym typeface="Batang"/>
              </a:rPr>
              <a:t>‹#›</a:t>
            </a:fld>
            <a:endParaRPr/>
          </a:p>
        </p:txBody>
      </p:sp>
      <p:sp>
        <p:nvSpPr>
          <p:cNvPr id="41" name="Google Shape;41;p4"/>
          <p:cNvSpPr txBox="1"/>
          <p:nvPr/>
        </p:nvSpPr>
        <p:spPr>
          <a:xfrm>
            <a:off x="457200" y="274637"/>
            <a:ext cx="11098212" cy="833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Presentation Outline</a:t>
            </a:r>
            <a:endParaRPr/>
          </a:p>
        </p:txBody>
      </p:sp>
      <p:sp>
        <p:nvSpPr>
          <p:cNvPr id="42" name="Google Shape;42;p4"/>
          <p:cNvSpPr txBox="1"/>
          <p:nvPr/>
        </p:nvSpPr>
        <p:spPr>
          <a:xfrm>
            <a:off x="484187" y="1025525"/>
            <a:ext cx="11098212" cy="5249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1" marL="6858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/>
          </a:p>
          <a:p>
            <a:pPr indent="-228600" lvl="1" marL="68580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Abstract</a:t>
            </a:r>
            <a:endParaRPr/>
          </a:p>
          <a:p>
            <a:pPr indent="-228600" lvl="1" marL="68580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Literature Survey</a:t>
            </a:r>
            <a:endParaRPr/>
          </a:p>
          <a:p>
            <a:pPr indent="-228600" lvl="1" marL="68580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</a:t>
            </a:r>
            <a:endParaRPr/>
          </a:p>
          <a:p>
            <a:pPr indent="-228600" lvl="1" marL="68580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Block Diagram</a:t>
            </a:r>
            <a:endParaRPr/>
          </a:p>
          <a:p>
            <a:pPr indent="-228600" lvl="1" marL="68580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Methodology of the Proposed work</a:t>
            </a:r>
            <a:endParaRPr/>
          </a:p>
          <a:p>
            <a:pPr indent="-228600" lvl="1" marL="68580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Results</a:t>
            </a:r>
            <a:endParaRPr/>
          </a:p>
          <a:p>
            <a:pPr indent="-228600" lvl="1" marL="68580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 and Future Scope</a:t>
            </a:r>
            <a:endParaRPr/>
          </a:p>
          <a:p>
            <a:pPr indent="-228600" lvl="1" marL="68580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5"/>
          <p:cNvSpPr txBox="1"/>
          <p:nvPr/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400"/>
              <a:buFont typeface="Batang"/>
              <a:buNone/>
            </a:pPr>
            <a:r>
              <a:t/>
            </a:r>
            <a:endParaRPr>
              <a:solidFill>
                <a:srgbClr val="898989"/>
              </a:solidFill>
              <a:latin typeface="Batang"/>
              <a:ea typeface="Batang"/>
              <a:cs typeface="Batang"/>
              <a:sym typeface="Batang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400"/>
              <a:buFont typeface="Batang"/>
              <a:buNone/>
            </a:pPr>
            <a:r>
              <a:rPr lang="en-US">
                <a:solidFill>
                  <a:srgbClr val="898989"/>
                </a:solidFill>
                <a:latin typeface="Batang"/>
                <a:ea typeface="Batang"/>
                <a:cs typeface="Batang"/>
                <a:sym typeface="Batang"/>
              </a:rPr>
              <a:t>19-11-2025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400"/>
              <a:buFont typeface="Batang"/>
              <a:buNone/>
            </a:pPr>
            <a:r>
              <a:t/>
            </a:r>
            <a:endParaRPr>
              <a:solidFill>
                <a:srgbClr val="898989"/>
              </a:solidFill>
              <a:latin typeface="Batang"/>
              <a:ea typeface="Batang"/>
              <a:cs typeface="Batang"/>
              <a:sym typeface="Batang"/>
            </a:endParaRPr>
          </a:p>
        </p:txBody>
      </p:sp>
      <p:sp>
        <p:nvSpPr>
          <p:cNvPr id="49" name="Google Shape;49;p5"/>
          <p:cNvSpPr txBox="1"/>
          <p:nvPr/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400"/>
              <a:buFont typeface="Batang"/>
              <a:buNone/>
            </a:pPr>
            <a:r>
              <a:rPr b="0" i="0" lang="en-US" sz="1400" u="none">
                <a:solidFill>
                  <a:srgbClr val="898989"/>
                </a:solidFill>
                <a:latin typeface="Batang"/>
                <a:ea typeface="Batang"/>
                <a:cs typeface="Batang"/>
                <a:sym typeface="Batang"/>
              </a:rPr>
              <a:t>Batch no : 1</a:t>
            </a:r>
            <a:r>
              <a:rPr lang="en-US">
                <a:solidFill>
                  <a:srgbClr val="898989"/>
                </a:solidFill>
                <a:latin typeface="Batang"/>
                <a:ea typeface="Batang"/>
                <a:cs typeface="Batang"/>
                <a:sym typeface="Batang"/>
              </a:rPr>
              <a:t>0</a:t>
            </a:r>
            <a:endParaRPr/>
          </a:p>
        </p:txBody>
      </p:sp>
      <p:sp>
        <p:nvSpPr>
          <p:cNvPr id="50" name="Google Shape;50;p5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400"/>
              <a:buFont typeface="Batang"/>
              <a:buNone/>
            </a:pPr>
            <a:fld id="{00000000-1234-1234-1234-123412341234}" type="slidenum">
              <a:rPr b="0" i="0" lang="en-US" sz="1400" u="none">
                <a:solidFill>
                  <a:srgbClr val="898989"/>
                </a:solidFill>
                <a:latin typeface="Batang"/>
                <a:ea typeface="Batang"/>
                <a:cs typeface="Batang"/>
                <a:sym typeface="Batang"/>
              </a:rPr>
              <a:t>‹#›</a:t>
            </a:fld>
            <a:endParaRPr/>
          </a:p>
        </p:txBody>
      </p:sp>
      <p:sp>
        <p:nvSpPr>
          <p:cNvPr id="51" name="Google Shape;51;p5"/>
          <p:cNvSpPr txBox="1"/>
          <p:nvPr/>
        </p:nvSpPr>
        <p:spPr>
          <a:xfrm>
            <a:off x="457200" y="274637"/>
            <a:ext cx="11098212" cy="833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/>
          </a:p>
        </p:txBody>
      </p:sp>
      <p:sp>
        <p:nvSpPr>
          <p:cNvPr id="52" name="Google Shape;52;p5"/>
          <p:cNvSpPr txBox="1"/>
          <p:nvPr/>
        </p:nvSpPr>
        <p:spPr>
          <a:xfrm>
            <a:off x="484187" y="1025525"/>
            <a:ext cx="11098212" cy="5249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Times New Roman"/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Times New Roman"/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-355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modern criminal investigations, </a:t>
            </a: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managing forensic evidence accurately and securely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crucial to ensure justice and maintain public trust.</a:t>
            </a:r>
            <a:b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Traditional </a:t>
            </a: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paper-based evidence handling systems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are prone to human error, tampering, and data inconsistency, leading to breaks in the chain of custody.</a:t>
            </a:r>
            <a:b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overcome these challenges, our project introduces a </a:t>
            </a: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Digital Forensics and Evidence Management System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that leverages emerging technologies to create a secure and transparent workflow.</a:t>
            </a:r>
            <a:b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primary goal is to </a:t>
            </a: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enhance efficiency, accountability, and integrity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 evidence management, helping law enforcement and judicial bodies make data-driven and trustworthy decisions.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Times New Roman"/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Times New Roman"/>
              <a:buNone/>
            </a:pPr>
            <a:r>
              <a:t/>
            </a:r>
            <a:endParaRPr sz="2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6"/>
          <p:cNvSpPr txBox="1"/>
          <p:nvPr/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400"/>
              <a:buFont typeface="Batang"/>
              <a:buNone/>
            </a:pPr>
            <a:r>
              <a:t/>
            </a:r>
            <a:endParaRPr>
              <a:solidFill>
                <a:srgbClr val="898989"/>
              </a:solidFill>
              <a:latin typeface="Batang"/>
              <a:ea typeface="Batang"/>
              <a:cs typeface="Batang"/>
              <a:sym typeface="Batang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400"/>
              <a:buFont typeface="Batang"/>
              <a:buNone/>
            </a:pPr>
            <a:r>
              <a:rPr lang="en-US">
                <a:solidFill>
                  <a:srgbClr val="898989"/>
                </a:solidFill>
                <a:latin typeface="Batang"/>
                <a:ea typeface="Batang"/>
                <a:cs typeface="Batang"/>
                <a:sym typeface="Batang"/>
              </a:rPr>
              <a:t>19-11-2025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400"/>
              <a:buFont typeface="Batang"/>
              <a:buNone/>
            </a:pPr>
            <a:r>
              <a:t/>
            </a:r>
            <a:endParaRPr>
              <a:solidFill>
                <a:srgbClr val="898989"/>
              </a:solidFill>
              <a:latin typeface="Batang"/>
              <a:ea typeface="Batang"/>
              <a:cs typeface="Batang"/>
              <a:sym typeface="Batang"/>
            </a:endParaRPr>
          </a:p>
        </p:txBody>
      </p:sp>
      <p:sp>
        <p:nvSpPr>
          <p:cNvPr id="59" name="Google Shape;59;p6"/>
          <p:cNvSpPr txBox="1"/>
          <p:nvPr/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400"/>
              <a:buFont typeface="Batang"/>
              <a:buNone/>
            </a:pPr>
            <a:r>
              <a:rPr b="0" i="0" lang="en-US" sz="1400" u="none">
                <a:solidFill>
                  <a:srgbClr val="898989"/>
                </a:solidFill>
                <a:latin typeface="Batang"/>
                <a:ea typeface="Batang"/>
                <a:cs typeface="Batang"/>
                <a:sym typeface="Batang"/>
              </a:rPr>
              <a:t>Batch no : 10</a:t>
            </a:r>
            <a:endParaRPr/>
          </a:p>
        </p:txBody>
      </p:sp>
      <p:sp>
        <p:nvSpPr>
          <p:cNvPr id="60" name="Google Shape;60;p6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400"/>
              <a:buFont typeface="Batang"/>
              <a:buNone/>
            </a:pPr>
            <a:fld id="{00000000-1234-1234-1234-123412341234}" type="slidenum">
              <a:rPr b="0" i="0" lang="en-US" sz="1400" u="none">
                <a:solidFill>
                  <a:srgbClr val="898989"/>
                </a:solidFill>
                <a:latin typeface="Batang"/>
                <a:ea typeface="Batang"/>
                <a:cs typeface="Batang"/>
                <a:sym typeface="Batang"/>
              </a:rPr>
              <a:t>‹#›</a:t>
            </a:fld>
            <a:endParaRPr/>
          </a:p>
        </p:txBody>
      </p:sp>
      <p:sp>
        <p:nvSpPr>
          <p:cNvPr id="61" name="Google Shape;61;p6"/>
          <p:cNvSpPr txBox="1"/>
          <p:nvPr/>
        </p:nvSpPr>
        <p:spPr>
          <a:xfrm>
            <a:off x="457200" y="196850"/>
            <a:ext cx="11098212" cy="5667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Abstract</a:t>
            </a:r>
            <a:endParaRPr/>
          </a:p>
        </p:txBody>
      </p:sp>
      <p:sp>
        <p:nvSpPr>
          <p:cNvPr id="62" name="Google Shape;62;p6"/>
          <p:cNvSpPr txBox="1"/>
          <p:nvPr/>
        </p:nvSpPr>
        <p:spPr>
          <a:xfrm>
            <a:off x="547650" y="1527303"/>
            <a:ext cx="11096700" cy="40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5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</a:t>
            </a: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Digital Forensics and Evidence Management System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replaces traditional paper-based logs with a secure </a:t>
            </a: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web-based platform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ensuring transparency, accuracy, and reliability in evidence handling.</a:t>
            </a:r>
            <a:b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RFID technology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enables real-time tracking of evidence movement, maintaining a continuous and verifiable </a:t>
            </a: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chain of custody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throughout the investigation process.</a:t>
            </a:r>
            <a:b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Blockchain-backed data storage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guarantees tamper-proof record keeping, preserving the </a:t>
            </a: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integrity and authenticity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 all evidence transactions.</a:t>
            </a:r>
            <a:b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Through </a:t>
            </a: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role-based access control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</a:t>
            </a: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biometric authentication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the system strengthens </a:t>
            </a: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security, accountability, and trust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modernizing forensic and judicial operations for greater transparency and efficiency.</a:t>
            </a:r>
            <a:br>
              <a:rPr lang="en-US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Times New Roman"/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7"/>
          <p:cNvSpPr txBox="1"/>
          <p:nvPr/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400"/>
              <a:buFont typeface="Batang"/>
              <a:buNone/>
            </a:pPr>
            <a:r>
              <a:t/>
            </a:r>
            <a:endParaRPr>
              <a:solidFill>
                <a:srgbClr val="898989"/>
              </a:solidFill>
              <a:latin typeface="Batang"/>
              <a:ea typeface="Batang"/>
              <a:cs typeface="Batang"/>
              <a:sym typeface="Batang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400"/>
              <a:buFont typeface="Batang"/>
              <a:buNone/>
            </a:pPr>
            <a:r>
              <a:rPr lang="en-US">
                <a:solidFill>
                  <a:srgbClr val="898989"/>
                </a:solidFill>
                <a:latin typeface="Batang"/>
                <a:ea typeface="Batang"/>
                <a:cs typeface="Batang"/>
                <a:sym typeface="Batang"/>
              </a:rPr>
              <a:t>13-10-2025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400"/>
              <a:buFont typeface="Batang"/>
              <a:buNone/>
            </a:pPr>
            <a:r>
              <a:t/>
            </a:r>
            <a:endParaRPr>
              <a:solidFill>
                <a:srgbClr val="898989"/>
              </a:solidFill>
              <a:latin typeface="Batang"/>
              <a:ea typeface="Batang"/>
              <a:cs typeface="Batang"/>
              <a:sym typeface="Batang"/>
            </a:endParaRPr>
          </a:p>
        </p:txBody>
      </p:sp>
      <p:sp>
        <p:nvSpPr>
          <p:cNvPr id="69" name="Google Shape;69;p7"/>
          <p:cNvSpPr txBox="1"/>
          <p:nvPr/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400"/>
              <a:buFont typeface="Batang"/>
              <a:buNone/>
            </a:pPr>
            <a:r>
              <a:rPr b="0" i="0" lang="en-US" sz="1400" u="none">
                <a:solidFill>
                  <a:srgbClr val="898989"/>
                </a:solidFill>
                <a:latin typeface="Batang"/>
                <a:ea typeface="Batang"/>
                <a:cs typeface="Batang"/>
                <a:sym typeface="Batang"/>
              </a:rPr>
              <a:t>Batch no : 10</a:t>
            </a:r>
            <a:endParaRPr/>
          </a:p>
        </p:txBody>
      </p:sp>
      <p:sp>
        <p:nvSpPr>
          <p:cNvPr id="70" name="Google Shape;70;p7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400"/>
              <a:buFont typeface="Batang"/>
              <a:buNone/>
            </a:pPr>
            <a:fld id="{00000000-1234-1234-1234-123412341234}" type="slidenum">
              <a:rPr b="0" i="0" lang="en-US" sz="1400" u="none">
                <a:solidFill>
                  <a:srgbClr val="898989"/>
                </a:solidFill>
                <a:latin typeface="Batang"/>
                <a:ea typeface="Batang"/>
                <a:cs typeface="Batang"/>
                <a:sym typeface="Batang"/>
              </a:rPr>
              <a:t>‹#›</a:t>
            </a:fld>
            <a:endParaRPr/>
          </a:p>
        </p:txBody>
      </p:sp>
      <p:sp>
        <p:nvSpPr>
          <p:cNvPr id="71" name="Google Shape;71;p7"/>
          <p:cNvSpPr txBox="1"/>
          <p:nvPr/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400"/>
              <a:buFont typeface="Batang"/>
              <a:buNone/>
            </a:pPr>
            <a:r>
              <a:t/>
            </a:r>
            <a:endParaRPr>
              <a:solidFill>
                <a:srgbClr val="898989"/>
              </a:solidFill>
              <a:latin typeface="Batang"/>
              <a:ea typeface="Batang"/>
              <a:cs typeface="Batang"/>
              <a:sym typeface="Batang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400"/>
              <a:buFont typeface="Batang"/>
              <a:buNone/>
            </a:pPr>
            <a:r>
              <a:rPr lang="en-US">
                <a:solidFill>
                  <a:srgbClr val="898989"/>
                </a:solidFill>
                <a:latin typeface="Batang"/>
                <a:ea typeface="Batang"/>
                <a:cs typeface="Batang"/>
                <a:sym typeface="Batang"/>
              </a:rPr>
              <a:t>13-09-2025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400"/>
              <a:buFont typeface="Batang"/>
              <a:buNone/>
            </a:pPr>
            <a:r>
              <a:t/>
            </a:r>
            <a:endParaRPr>
              <a:solidFill>
                <a:srgbClr val="898989"/>
              </a:solidFill>
              <a:latin typeface="Batang"/>
              <a:ea typeface="Batang"/>
              <a:cs typeface="Batang"/>
              <a:sym typeface="Batang"/>
            </a:endParaRPr>
          </a:p>
        </p:txBody>
      </p:sp>
      <p:sp>
        <p:nvSpPr>
          <p:cNvPr id="72" name="Google Shape;72;p7"/>
          <p:cNvSpPr txBox="1"/>
          <p:nvPr/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400"/>
              <a:buFont typeface="Batang"/>
              <a:buNone/>
            </a:pPr>
            <a:r>
              <a:rPr b="0" i="0" lang="en-US" sz="1400" u="none">
                <a:solidFill>
                  <a:srgbClr val="898989"/>
                </a:solidFill>
                <a:latin typeface="Batang"/>
                <a:ea typeface="Batang"/>
                <a:cs typeface="Batang"/>
                <a:sym typeface="Batang"/>
              </a:rPr>
              <a:t>Batch no : 10</a:t>
            </a:r>
            <a:endParaRPr/>
          </a:p>
        </p:txBody>
      </p:sp>
      <p:sp>
        <p:nvSpPr>
          <p:cNvPr id="73" name="Google Shape;73;p7"/>
          <p:cNvSpPr txBox="1"/>
          <p:nvPr/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400"/>
              <a:buFont typeface="Batang"/>
              <a:buNone/>
            </a:pPr>
            <a:fld id="{00000000-1234-1234-1234-123412341234}" type="slidenum">
              <a:rPr b="0" i="0" lang="en-US" sz="1400" u="none">
                <a:solidFill>
                  <a:srgbClr val="898989"/>
                </a:solidFill>
                <a:latin typeface="Batang"/>
                <a:ea typeface="Batang"/>
                <a:cs typeface="Batang"/>
                <a:sym typeface="Batang"/>
              </a:rPr>
              <a:t>‹#›</a:t>
            </a:fld>
            <a:endParaRPr/>
          </a:p>
        </p:txBody>
      </p:sp>
      <p:sp>
        <p:nvSpPr>
          <p:cNvPr id="74" name="Google Shape;74;p7"/>
          <p:cNvSpPr txBox="1"/>
          <p:nvPr/>
        </p:nvSpPr>
        <p:spPr>
          <a:xfrm>
            <a:off x="457200" y="274637"/>
            <a:ext cx="11098200" cy="8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i="0" lang="en-US" sz="4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Literature Survey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5" name="Google Shape;75;p7"/>
          <p:cNvSpPr txBox="1"/>
          <p:nvPr/>
        </p:nvSpPr>
        <p:spPr>
          <a:xfrm>
            <a:off x="484187" y="1025525"/>
            <a:ext cx="11098200" cy="5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76" name="Google Shape;76;p7"/>
          <p:cNvGraphicFramePr/>
          <p:nvPr/>
        </p:nvGraphicFramePr>
        <p:xfrm>
          <a:off x="313550" y="110808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{FB82AEC7-BEA7-4E68-A2B0-D8DC0B0162C6}</a:tableStyleId>
              </a:tblPr>
              <a:tblGrid>
                <a:gridCol w="2890825"/>
                <a:gridCol w="2892425"/>
                <a:gridCol w="2890825"/>
                <a:gridCol w="2890825"/>
              </a:tblGrid>
              <a:tr h="1189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1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Calibri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Paper Title</a:t>
                      </a:r>
                      <a:endParaRPr/>
                    </a:p>
                  </a:txBody>
                  <a:tcPr marT="45725" marB="45725" marR="91425" marL="91425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1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Calibri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Journal  details</a:t>
                      </a:r>
                      <a:endParaRPr/>
                    </a:p>
                  </a:txBody>
                  <a:tcPr marT="45725" marB="45725" marR="91425" marL="91425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1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Calibri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Methodology</a:t>
                      </a:r>
                      <a:endParaRPr/>
                    </a:p>
                  </a:txBody>
                  <a:tcPr marT="45725" marB="45725" marR="91425" marL="91425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1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Calibri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Disadvantages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1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0" sz="180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25" marL="91425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</a:tr>
              <a:tr h="873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RFID Technology in Forensic Evidence Management: An Assessment of Barriers, Benefits, and Costs</a:t>
                      </a:r>
                      <a:endParaRPr sz="18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25" marL="91425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Williams, S. R., Taylor, M., Ireland, J., and Mehta, A. (2014) [1]</a:t>
                      </a:r>
                      <a:endParaRPr sz="18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25" marL="91425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RFID technology applied to forensic evidence management to enable environmental monitoring, real-time tracking, and improve efficiency.</a:t>
                      </a:r>
                      <a:endParaRPr sz="18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25" marL="91425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High initial costs, signal interference, lack of standardization, complex staff training, and infrastructure requirements.</a:t>
                      </a:r>
                      <a:endParaRPr sz="18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25" marL="91425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5EA"/>
                    </a:solidFill>
                  </a:tcPr>
                </a:tc>
              </a:tr>
              <a:tr h="873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Blockchain-Based Chain of Consent in Digital Forensics</a:t>
                      </a:r>
                      <a:endParaRPr sz="18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25" marL="91425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Bonomi, S., Casini, M., Ciccotelli, C. (2018) [2],</a:t>
                      </a:r>
                      <a:endParaRPr sz="18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25" marL="91425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Ethereum smart contracts to automate evidence recording with traceability..</a:t>
                      </a:r>
                      <a:endParaRPr sz="18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25" marL="91425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Prototype inefficiency and difficulty in real-world adoption.</a:t>
                      </a:r>
                      <a:endParaRPr sz="18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25" marL="91425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BF5"/>
                    </a:solidFill>
                  </a:tcPr>
                </a:tc>
              </a:tr>
              <a:tr h="858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Blockchain-Based Forensic Evidence Preservation for IoT</a:t>
                      </a:r>
                      <a:endParaRPr sz="18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25" marL="91425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Brotsis, S., Kolokotronis, N., Limniotis, K., Shiaeles, S., Kavallieros, D. (2019) [3]</a:t>
                      </a:r>
                      <a:endParaRPr sz="18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25" marL="91425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Blockchain smart contracts store metadata for integrity and verification</a:t>
                      </a:r>
                      <a:endParaRPr sz="18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25" marL="91425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Scalability and latency issues, no large-scale validation.</a:t>
                      </a:r>
                      <a:endParaRPr sz="18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25" marL="91425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5EA"/>
                    </a:solidFill>
                  </a:tcPr>
                </a:tc>
              </a:tr>
              <a:tr h="873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Blockchain-Based Evidence Logging System</a:t>
                      </a:r>
                      <a:endParaRPr sz="18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25" marL="91425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Akhtar, M. S. and Feng, T. (2022) [5]</a:t>
                      </a:r>
                      <a:endParaRPr sz="18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25" marL="91425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Blockchain on EAI platform to secure logs for traceability in IoT forensics.</a:t>
                      </a:r>
                      <a:endParaRPr sz="18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25" marL="91425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Data protection issues in Hyperledger; needs privacy-preserving methods.</a:t>
                      </a:r>
                      <a:endParaRPr sz="18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25" marL="91425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B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8"/>
          <p:cNvSpPr txBox="1"/>
          <p:nvPr/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400"/>
              <a:buFont typeface="Batang"/>
              <a:buNone/>
            </a:pPr>
            <a:r>
              <a:t/>
            </a:r>
            <a:endParaRPr>
              <a:solidFill>
                <a:srgbClr val="898989"/>
              </a:solidFill>
              <a:latin typeface="Batang"/>
              <a:ea typeface="Batang"/>
              <a:cs typeface="Batang"/>
              <a:sym typeface="Batang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400"/>
              <a:buFont typeface="Batang"/>
              <a:buNone/>
            </a:pPr>
            <a:r>
              <a:rPr lang="en-US">
                <a:solidFill>
                  <a:srgbClr val="898989"/>
                </a:solidFill>
                <a:latin typeface="Batang"/>
                <a:ea typeface="Batang"/>
                <a:cs typeface="Batang"/>
                <a:sym typeface="Batang"/>
              </a:rPr>
              <a:t>13-09-2025</a:t>
            </a:r>
            <a:endParaRPr>
              <a:solidFill>
                <a:srgbClr val="000000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400"/>
              <a:buFont typeface="Batang"/>
              <a:buNone/>
            </a:pPr>
            <a:r>
              <a:t/>
            </a:r>
            <a:endParaRPr>
              <a:solidFill>
                <a:srgbClr val="898989"/>
              </a:solidFill>
              <a:latin typeface="Batang"/>
              <a:ea typeface="Batang"/>
              <a:cs typeface="Batang"/>
              <a:sym typeface="Batang"/>
            </a:endParaRPr>
          </a:p>
        </p:txBody>
      </p:sp>
      <p:sp>
        <p:nvSpPr>
          <p:cNvPr id="83" name="Google Shape;83;p8"/>
          <p:cNvSpPr txBox="1"/>
          <p:nvPr/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400"/>
              <a:buFont typeface="Batang"/>
              <a:buNone/>
            </a:pPr>
            <a:r>
              <a:rPr b="0" i="0" lang="en-US" sz="1400" u="none">
                <a:solidFill>
                  <a:srgbClr val="898989"/>
                </a:solidFill>
                <a:latin typeface="Batang"/>
                <a:ea typeface="Batang"/>
                <a:cs typeface="Batang"/>
                <a:sym typeface="Batang"/>
              </a:rPr>
              <a:t>Batch no : 10</a:t>
            </a:r>
            <a:endParaRPr/>
          </a:p>
        </p:txBody>
      </p:sp>
      <p:sp>
        <p:nvSpPr>
          <p:cNvPr id="84" name="Google Shape;84;p8"/>
          <p:cNvSpPr txBox="1"/>
          <p:nvPr/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400"/>
              <a:buFont typeface="Batang"/>
              <a:buNone/>
            </a:pPr>
            <a:fld id="{00000000-1234-1234-1234-123412341234}" type="slidenum">
              <a:rPr b="0" i="0" lang="en-US" sz="1400" u="none">
                <a:solidFill>
                  <a:srgbClr val="898989"/>
                </a:solidFill>
                <a:latin typeface="Batang"/>
                <a:ea typeface="Batang"/>
                <a:cs typeface="Batang"/>
                <a:sym typeface="Batang"/>
              </a:rPr>
              <a:t>‹#›</a:t>
            </a:fld>
            <a:endParaRPr/>
          </a:p>
        </p:txBody>
      </p:sp>
      <p:sp>
        <p:nvSpPr>
          <p:cNvPr id="85" name="Google Shape;85;p8"/>
          <p:cNvSpPr txBox="1"/>
          <p:nvPr/>
        </p:nvSpPr>
        <p:spPr>
          <a:xfrm>
            <a:off x="457200" y="274637"/>
            <a:ext cx="11098200" cy="8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i="0" lang="en-US" sz="4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Literature Survey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6" name="Google Shape;86;p8"/>
          <p:cNvSpPr txBox="1"/>
          <p:nvPr/>
        </p:nvSpPr>
        <p:spPr>
          <a:xfrm>
            <a:off x="484187" y="1025525"/>
            <a:ext cx="11098200" cy="5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87" name="Google Shape;87;p8"/>
          <p:cNvGraphicFramePr/>
          <p:nvPr/>
        </p:nvGraphicFramePr>
        <p:xfrm>
          <a:off x="313550" y="110803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{FB82AEC7-BEA7-4E68-A2B0-D8DC0B0162C6}</a:tableStyleId>
              </a:tblPr>
              <a:tblGrid>
                <a:gridCol w="2890825"/>
                <a:gridCol w="2892425"/>
                <a:gridCol w="2890825"/>
                <a:gridCol w="2890825"/>
              </a:tblGrid>
              <a:tr h="1189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1" i="0" sz="1800" u="none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Calibri"/>
                        <a:buNone/>
                      </a:pPr>
                      <a:r>
                        <a:rPr b="1" i="0" lang="en-US" sz="1800" u="non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Paper Title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25" marL="91425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1" i="0" sz="1800" u="none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Calibri"/>
                        <a:buNone/>
                      </a:pPr>
                      <a:r>
                        <a:rPr b="1" i="0" lang="en-US" sz="1800" u="non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Journal  details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25" marL="91425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1" i="0" sz="1800" u="none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Calibri"/>
                        <a:buNone/>
                      </a:pPr>
                      <a:r>
                        <a:rPr b="1" i="0" lang="en-US" sz="1800" u="non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Methodology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25" marL="91425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1" i="0" sz="1800" u="none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Calibri"/>
                        <a:buNone/>
                      </a:pPr>
                      <a:r>
                        <a:rPr b="1" i="0" lang="en-US" sz="1800" u="non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Disadvantages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1" i="0" sz="1800" u="none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0" sz="1800" u="none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25" marL="91425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</a:tr>
              <a:tr h="873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 blockchain-based solution for custody of digital files</a:t>
                      </a:r>
                      <a:endParaRPr sz="18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25" marL="91425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M. Lusetti et al., (2020)</a:t>
                      </a:r>
                      <a:endParaRPr sz="18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25" marL="91425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Hybrid platform that records transparent access histories on a blockchain to prove custody and access events</a:t>
                      </a:r>
                      <a:endParaRPr sz="18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25" marL="91425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Storage and privacy concerns for storing file metadata on-chain; operational costs and access-control complexity.</a:t>
                      </a:r>
                      <a:endParaRPr sz="18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25" marL="91425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5EA"/>
                    </a:solidFill>
                  </a:tcPr>
                </a:tc>
              </a:tr>
              <a:tr h="873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An Enhanced Blockchain-Based IoT Digital Forensics Architecture Using Fuzzy Hash</a:t>
                      </a:r>
                      <a:endParaRPr sz="18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25" marL="91425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W. A. Mahrous, M. Farouk &amp; S. Darwish </a:t>
                      </a:r>
                      <a:endParaRPr sz="18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25" marL="91425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Combines fuzzy hashing with blockchain Merkle trees so investigators can detect similar/modified files while preserving integrity.</a:t>
                      </a:r>
                      <a:endParaRPr sz="18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25" marL="91425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Simulated proof-of-concept (no large-scale deployment); PoW-like costs and latency</a:t>
                      </a:r>
                      <a:endParaRPr sz="18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25" marL="91425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BF5"/>
                    </a:solidFill>
                  </a:tcPr>
                </a:tc>
              </a:tr>
              <a:tr h="874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Digital Forensics: Maintaining Chain of Custody Using Blockchain</a:t>
                      </a:r>
                      <a:endParaRPr sz="18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25" marL="91425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S. Chopade &amp; A. Khan IEEE Big Data (2017)</a:t>
                      </a:r>
                      <a:endParaRPr sz="18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25" marL="91425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Prototype blockchain “chain-of-custody” app to log evidence events and timestamps immutably.</a:t>
                      </a:r>
                      <a:endParaRPr sz="18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25" marL="91425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Early-stage prototype: scalability, legal admissibility and standardized procedures remain open issues</a:t>
                      </a:r>
                      <a:endParaRPr sz="18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25" marL="91425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5E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9"/>
          <p:cNvSpPr txBox="1"/>
          <p:nvPr/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400"/>
              <a:buFont typeface="Batang"/>
              <a:buNone/>
            </a:pPr>
            <a:r>
              <a:t/>
            </a:r>
            <a:endParaRPr>
              <a:solidFill>
                <a:srgbClr val="898989"/>
              </a:solidFill>
              <a:latin typeface="Batang"/>
              <a:ea typeface="Batang"/>
              <a:cs typeface="Batang"/>
              <a:sym typeface="Batang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400"/>
              <a:buFont typeface="Batang"/>
              <a:buNone/>
            </a:pPr>
            <a:r>
              <a:rPr lang="en-US">
                <a:solidFill>
                  <a:srgbClr val="898989"/>
                </a:solidFill>
                <a:latin typeface="Batang"/>
                <a:ea typeface="Batang"/>
                <a:cs typeface="Batang"/>
                <a:sym typeface="Batang"/>
              </a:rPr>
              <a:t>13-10-2025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400"/>
              <a:buFont typeface="Batang"/>
              <a:buNone/>
            </a:pPr>
            <a:r>
              <a:t/>
            </a:r>
            <a:endParaRPr>
              <a:solidFill>
                <a:srgbClr val="898989"/>
              </a:solidFill>
              <a:latin typeface="Batang"/>
              <a:ea typeface="Batang"/>
              <a:cs typeface="Batang"/>
              <a:sym typeface="Batang"/>
            </a:endParaRPr>
          </a:p>
        </p:txBody>
      </p:sp>
      <p:sp>
        <p:nvSpPr>
          <p:cNvPr id="94" name="Google Shape;94;p9"/>
          <p:cNvSpPr txBox="1"/>
          <p:nvPr/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400"/>
              <a:buFont typeface="Batang"/>
              <a:buNone/>
            </a:pPr>
            <a:r>
              <a:rPr b="0" i="0" lang="en-US" sz="1400" u="none">
                <a:solidFill>
                  <a:srgbClr val="898989"/>
                </a:solidFill>
                <a:latin typeface="Batang"/>
                <a:ea typeface="Batang"/>
                <a:cs typeface="Batang"/>
                <a:sym typeface="Batang"/>
              </a:rPr>
              <a:t>Batch no : 10</a:t>
            </a:r>
            <a:endParaRPr/>
          </a:p>
        </p:txBody>
      </p:sp>
      <p:sp>
        <p:nvSpPr>
          <p:cNvPr id="95" name="Google Shape;95;p9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400"/>
              <a:buFont typeface="Batang"/>
              <a:buNone/>
            </a:pPr>
            <a:fld id="{00000000-1234-1234-1234-123412341234}" type="slidenum">
              <a:rPr b="0" i="0" lang="en-US" sz="1400" u="none">
                <a:solidFill>
                  <a:srgbClr val="898989"/>
                </a:solidFill>
                <a:latin typeface="Batang"/>
                <a:ea typeface="Batang"/>
                <a:cs typeface="Batang"/>
                <a:sym typeface="Batang"/>
              </a:rPr>
              <a:t>‹#›</a:t>
            </a:fld>
            <a:endParaRPr/>
          </a:p>
        </p:txBody>
      </p:sp>
      <p:sp>
        <p:nvSpPr>
          <p:cNvPr id="96" name="Google Shape;96;p9"/>
          <p:cNvSpPr txBox="1"/>
          <p:nvPr/>
        </p:nvSpPr>
        <p:spPr>
          <a:xfrm>
            <a:off x="457200" y="274637"/>
            <a:ext cx="11098212" cy="833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</a:t>
            </a:r>
            <a:endParaRPr/>
          </a:p>
        </p:txBody>
      </p:sp>
      <p:sp>
        <p:nvSpPr>
          <p:cNvPr id="97" name="Google Shape;97;p9"/>
          <p:cNvSpPr txBox="1"/>
          <p:nvPr/>
        </p:nvSpPr>
        <p:spPr>
          <a:xfrm>
            <a:off x="484187" y="1025525"/>
            <a:ext cx="11098212" cy="5249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Times New Roman"/>
              <a:buNone/>
            </a:pPr>
            <a:r>
              <a:t/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Times New Roman"/>
              <a:buNone/>
            </a:pPr>
            <a:r>
              <a:t/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AutoNum type="arabicPeriod"/>
            </a:pP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ensure secure and tamper-proof evidence management from the crime scene to court submission.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AutoNum type="arabicPeriod"/>
            </a:pP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enable real-time tracking and monitoring of evidence using RFID and a blockchain-backed website.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AutoNum type="arabicPeriod"/>
            </a:pP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maintain a transparent and verifiable chain of custody where only higher authorities with proper authorization and biometric authentication can access evidence records.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0"/>
          <p:cNvSpPr txBox="1"/>
          <p:nvPr/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400"/>
              <a:buFont typeface="Batang"/>
              <a:buNone/>
            </a:pPr>
            <a:r>
              <a:t/>
            </a:r>
            <a:endParaRPr>
              <a:solidFill>
                <a:srgbClr val="898989"/>
              </a:solidFill>
              <a:latin typeface="Batang"/>
              <a:ea typeface="Batang"/>
              <a:cs typeface="Batang"/>
              <a:sym typeface="Batang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400"/>
              <a:buFont typeface="Batang"/>
              <a:buNone/>
            </a:pPr>
            <a:r>
              <a:rPr lang="en-US">
                <a:solidFill>
                  <a:srgbClr val="898989"/>
                </a:solidFill>
                <a:latin typeface="Batang"/>
                <a:ea typeface="Batang"/>
                <a:cs typeface="Batang"/>
                <a:sym typeface="Batang"/>
              </a:rPr>
              <a:t>19-11-2025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400"/>
              <a:buFont typeface="Batang"/>
              <a:buNone/>
            </a:pPr>
            <a:r>
              <a:t/>
            </a:r>
            <a:endParaRPr>
              <a:solidFill>
                <a:srgbClr val="898989"/>
              </a:solidFill>
              <a:latin typeface="Batang"/>
              <a:ea typeface="Batang"/>
              <a:cs typeface="Batang"/>
              <a:sym typeface="Batang"/>
            </a:endParaRPr>
          </a:p>
        </p:txBody>
      </p:sp>
      <p:sp>
        <p:nvSpPr>
          <p:cNvPr id="104" name="Google Shape;104;p10"/>
          <p:cNvSpPr txBox="1"/>
          <p:nvPr/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400"/>
              <a:buFont typeface="Batang"/>
              <a:buNone/>
            </a:pPr>
            <a:r>
              <a:rPr b="0" i="0" lang="en-US" sz="1400" u="none">
                <a:solidFill>
                  <a:srgbClr val="898989"/>
                </a:solidFill>
                <a:latin typeface="Batang"/>
                <a:ea typeface="Batang"/>
                <a:cs typeface="Batang"/>
                <a:sym typeface="Batang"/>
              </a:rPr>
              <a:t>Batch no : 10</a:t>
            </a:r>
            <a:endParaRPr/>
          </a:p>
        </p:txBody>
      </p:sp>
      <p:sp>
        <p:nvSpPr>
          <p:cNvPr id="105" name="Google Shape;105;p10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400"/>
              <a:buFont typeface="Batang"/>
              <a:buNone/>
            </a:pPr>
            <a:fld id="{00000000-1234-1234-1234-123412341234}" type="slidenum">
              <a:rPr b="0" i="0" lang="en-US" sz="1400" u="none">
                <a:solidFill>
                  <a:srgbClr val="898989"/>
                </a:solidFill>
                <a:latin typeface="Batang"/>
                <a:ea typeface="Batang"/>
                <a:cs typeface="Batang"/>
                <a:sym typeface="Batang"/>
              </a:rPr>
              <a:t>‹#›</a:t>
            </a:fld>
            <a:endParaRPr/>
          </a:p>
        </p:txBody>
      </p:sp>
      <p:sp>
        <p:nvSpPr>
          <p:cNvPr id="106" name="Google Shape;106;p10"/>
          <p:cNvSpPr txBox="1"/>
          <p:nvPr/>
        </p:nvSpPr>
        <p:spPr>
          <a:xfrm>
            <a:off x="457200" y="274637"/>
            <a:ext cx="11098212" cy="833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Block Diagram</a:t>
            </a:r>
            <a:endParaRPr/>
          </a:p>
        </p:txBody>
      </p:sp>
      <p:sp>
        <p:nvSpPr>
          <p:cNvPr id="107" name="Google Shape;107;p10"/>
          <p:cNvSpPr txBox="1"/>
          <p:nvPr/>
        </p:nvSpPr>
        <p:spPr>
          <a:xfrm>
            <a:off x="500062" y="965200"/>
            <a:ext cx="11098212" cy="5249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t/>
            </a:r>
            <a:endParaRPr b="0" i="0" sz="4400" u="non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t/>
            </a:r>
            <a:endParaRPr b="0" i="0" sz="4400" u="non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4400" u="non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8" name="Google Shape;108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11188" y="1268675"/>
            <a:ext cx="9190226" cy="4642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" y="1268675"/>
            <a:ext cx="11555398" cy="4955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1"/>
          <p:cNvSpPr txBox="1"/>
          <p:nvPr/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400"/>
              <a:buFont typeface="Batang"/>
              <a:buNone/>
            </a:pPr>
            <a:r>
              <a:t/>
            </a:r>
            <a:endParaRPr>
              <a:solidFill>
                <a:srgbClr val="898989"/>
              </a:solidFill>
              <a:latin typeface="Batang"/>
              <a:ea typeface="Batang"/>
              <a:cs typeface="Batang"/>
              <a:sym typeface="Batang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400"/>
              <a:buFont typeface="Batang"/>
              <a:buNone/>
            </a:pPr>
            <a:r>
              <a:rPr lang="en-US">
                <a:solidFill>
                  <a:srgbClr val="898989"/>
                </a:solidFill>
                <a:latin typeface="Batang"/>
                <a:ea typeface="Batang"/>
                <a:cs typeface="Batang"/>
                <a:sym typeface="Batang"/>
              </a:rPr>
              <a:t>13-10-2025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400"/>
              <a:buFont typeface="Batang"/>
              <a:buNone/>
            </a:pPr>
            <a:r>
              <a:t/>
            </a:r>
            <a:endParaRPr>
              <a:solidFill>
                <a:srgbClr val="898989"/>
              </a:solidFill>
              <a:latin typeface="Batang"/>
              <a:ea typeface="Batang"/>
              <a:cs typeface="Batang"/>
              <a:sym typeface="Batang"/>
            </a:endParaRPr>
          </a:p>
        </p:txBody>
      </p:sp>
      <p:sp>
        <p:nvSpPr>
          <p:cNvPr id="116" name="Google Shape;116;p11"/>
          <p:cNvSpPr txBox="1"/>
          <p:nvPr/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400"/>
              <a:buFont typeface="Batang"/>
              <a:buNone/>
            </a:pPr>
            <a:r>
              <a:rPr b="0" i="0" lang="en-US" sz="1400" u="none">
                <a:solidFill>
                  <a:srgbClr val="898989"/>
                </a:solidFill>
                <a:latin typeface="Batang"/>
                <a:ea typeface="Batang"/>
                <a:cs typeface="Batang"/>
                <a:sym typeface="Batang"/>
              </a:rPr>
              <a:t>Batch no : 10</a:t>
            </a:r>
            <a:endParaRPr/>
          </a:p>
        </p:txBody>
      </p:sp>
      <p:sp>
        <p:nvSpPr>
          <p:cNvPr id="117" name="Google Shape;117;p11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400"/>
              <a:buFont typeface="Batang"/>
              <a:buNone/>
            </a:pPr>
            <a:fld id="{00000000-1234-1234-1234-123412341234}" type="slidenum">
              <a:rPr b="0" i="0" lang="en-US" sz="1400" u="none">
                <a:solidFill>
                  <a:srgbClr val="898989"/>
                </a:solidFill>
                <a:latin typeface="Batang"/>
                <a:ea typeface="Batang"/>
                <a:cs typeface="Batang"/>
                <a:sym typeface="Batang"/>
              </a:rPr>
              <a:t>‹#›</a:t>
            </a:fld>
            <a:endParaRPr/>
          </a:p>
        </p:txBody>
      </p:sp>
      <p:sp>
        <p:nvSpPr>
          <p:cNvPr id="118" name="Google Shape;118;p11"/>
          <p:cNvSpPr txBox="1"/>
          <p:nvPr/>
        </p:nvSpPr>
        <p:spPr>
          <a:xfrm>
            <a:off x="457200" y="274637"/>
            <a:ext cx="11098212" cy="833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Explanation</a:t>
            </a:r>
            <a:endParaRPr/>
          </a:p>
        </p:txBody>
      </p:sp>
      <p:sp>
        <p:nvSpPr>
          <p:cNvPr id="119" name="Google Shape;119;p11"/>
          <p:cNvSpPr txBox="1"/>
          <p:nvPr/>
        </p:nvSpPr>
        <p:spPr>
          <a:xfrm>
            <a:off x="484175" y="1025525"/>
            <a:ext cx="11098200" cy="53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RFID Reader &amp; Tag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AutoNum type="arabicPeriod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RFID reader emits </a:t>
            </a:r>
            <a:r>
              <a:rPr i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energy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to power the RFID tag.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AutoNum type="arabicPeriod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tag responds by sending </a:t>
            </a:r>
            <a:r>
              <a:rPr i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(via its Memory Unit &amp; Analog RF Interface).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Flow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AutoNum type="arabicPeriod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reader captures the RFID tag data and sends it to the </a:t>
            </a:r>
            <a:r>
              <a:rPr i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Application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layer.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AutoNum type="arabicPeriod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application performs </a:t>
            </a:r>
            <a:r>
              <a:rPr i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verification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</a:t>
            </a:r>
            <a:r>
              <a:rPr i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processing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Blockchain Storage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AutoNum type="arabicPeriod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Verified data is recorded as </a:t>
            </a:r>
            <a:r>
              <a:rPr i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blocks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 a </a:t>
            </a:r>
            <a:r>
              <a:rPr i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blockchain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(Block 1 → Block 2 → … → Block N).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Ensures </a:t>
            </a:r>
            <a:r>
              <a:rPr i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immutability, security</a:t>
            </a: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i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 traceability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 RFID transactions.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Purpose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AutoNum type="arabicPeriod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Enhances supply chain, asset tracking, or secure data management by combining </a:t>
            </a:r>
            <a:r>
              <a:rPr i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RFID automation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with </a:t>
            </a:r>
            <a:r>
              <a:rPr i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blockchain integrity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Times New Roman"/>
              <a:buNone/>
            </a:pPr>
            <a:r>
              <a:t/>
            </a:r>
            <a:endParaRPr sz="440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2"/>
          <p:cNvSpPr txBox="1"/>
          <p:nvPr/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400"/>
              <a:buFont typeface="Batang"/>
              <a:buNone/>
            </a:pPr>
            <a:r>
              <a:t/>
            </a:r>
            <a:endParaRPr>
              <a:solidFill>
                <a:srgbClr val="898989"/>
              </a:solidFill>
              <a:latin typeface="Batang"/>
              <a:ea typeface="Batang"/>
              <a:cs typeface="Batang"/>
              <a:sym typeface="Batang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400"/>
              <a:buFont typeface="Batang"/>
              <a:buNone/>
            </a:pPr>
            <a:r>
              <a:rPr lang="en-US">
                <a:solidFill>
                  <a:srgbClr val="898989"/>
                </a:solidFill>
                <a:latin typeface="Batang"/>
                <a:ea typeface="Batang"/>
                <a:cs typeface="Batang"/>
                <a:sym typeface="Batang"/>
              </a:rPr>
              <a:t>13-10-2025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400"/>
              <a:buFont typeface="Batang"/>
              <a:buNone/>
            </a:pPr>
            <a:r>
              <a:t/>
            </a:r>
            <a:endParaRPr>
              <a:solidFill>
                <a:srgbClr val="898989"/>
              </a:solidFill>
              <a:latin typeface="Batang"/>
              <a:ea typeface="Batang"/>
              <a:cs typeface="Batang"/>
              <a:sym typeface="Batang"/>
            </a:endParaRPr>
          </a:p>
        </p:txBody>
      </p:sp>
      <p:sp>
        <p:nvSpPr>
          <p:cNvPr id="126" name="Google Shape;126;p12"/>
          <p:cNvSpPr txBox="1"/>
          <p:nvPr/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400"/>
              <a:buFont typeface="Batang"/>
              <a:buNone/>
            </a:pPr>
            <a:r>
              <a:rPr b="0" i="0" lang="en-US" sz="1400" u="none">
                <a:solidFill>
                  <a:srgbClr val="898989"/>
                </a:solidFill>
                <a:latin typeface="Batang"/>
                <a:ea typeface="Batang"/>
                <a:cs typeface="Batang"/>
                <a:sym typeface="Batang"/>
              </a:rPr>
              <a:t>Batch no : 10</a:t>
            </a:r>
            <a:endParaRPr/>
          </a:p>
        </p:txBody>
      </p:sp>
      <p:sp>
        <p:nvSpPr>
          <p:cNvPr id="127" name="Google Shape;127;p12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400"/>
              <a:buFont typeface="Batang"/>
              <a:buNone/>
            </a:pPr>
            <a:fld id="{00000000-1234-1234-1234-123412341234}" type="slidenum">
              <a:rPr b="0" i="0" lang="en-US" sz="1400" u="none">
                <a:solidFill>
                  <a:srgbClr val="898989"/>
                </a:solidFill>
                <a:latin typeface="Batang"/>
                <a:ea typeface="Batang"/>
                <a:cs typeface="Batang"/>
                <a:sym typeface="Batang"/>
              </a:rPr>
              <a:t>‹#›</a:t>
            </a:fld>
            <a:endParaRPr/>
          </a:p>
        </p:txBody>
      </p:sp>
      <p:sp>
        <p:nvSpPr>
          <p:cNvPr id="128" name="Google Shape;128;p12"/>
          <p:cNvSpPr txBox="1"/>
          <p:nvPr/>
        </p:nvSpPr>
        <p:spPr>
          <a:xfrm>
            <a:off x="381000" y="381000"/>
            <a:ext cx="11098212" cy="833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Hardware / Software Details</a:t>
            </a:r>
            <a:endParaRPr/>
          </a:p>
        </p:txBody>
      </p:sp>
      <p:sp>
        <p:nvSpPr>
          <p:cNvPr id="129" name="Google Shape;129;p12"/>
          <p:cNvSpPr txBox="1"/>
          <p:nvPr/>
        </p:nvSpPr>
        <p:spPr>
          <a:xfrm>
            <a:off x="484187" y="1025525"/>
            <a:ext cx="11098200" cy="5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t/>
            </a:r>
            <a:endParaRPr sz="3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Hardware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1)RFID Reader/Receiver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2)RFID Tags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3)Arduino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Software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1)MERN STACK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2)Cloud Technologies(AWS)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3)Block Chain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4)Arduino IDE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t/>
            </a:r>
            <a:endParaRPr sz="3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4400" u="non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3"/>
          <p:cNvSpPr txBox="1"/>
          <p:nvPr/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400"/>
              <a:buFont typeface="Batang"/>
              <a:buNone/>
            </a:pPr>
            <a:r>
              <a:t/>
            </a:r>
            <a:endParaRPr>
              <a:solidFill>
                <a:srgbClr val="898989"/>
              </a:solidFill>
              <a:latin typeface="Batang"/>
              <a:ea typeface="Batang"/>
              <a:cs typeface="Batang"/>
              <a:sym typeface="Batang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400"/>
              <a:buFont typeface="Batang"/>
              <a:buNone/>
            </a:pPr>
            <a:r>
              <a:rPr lang="en-US">
                <a:solidFill>
                  <a:srgbClr val="898989"/>
                </a:solidFill>
                <a:latin typeface="Batang"/>
                <a:ea typeface="Batang"/>
                <a:cs typeface="Batang"/>
                <a:sym typeface="Batang"/>
              </a:rPr>
              <a:t>19-11-2025</a:t>
            </a:r>
            <a:endParaRPr>
              <a:solidFill>
                <a:srgbClr val="898989"/>
              </a:solidFill>
              <a:latin typeface="Batang"/>
              <a:ea typeface="Batang"/>
              <a:cs typeface="Batang"/>
              <a:sym typeface="Batang"/>
            </a:endParaRPr>
          </a:p>
        </p:txBody>
      </p:sp>
      <p:sp>
        <p:nvSpPr>
          <p:cNvPr id="136" name="Google Shape;136;p13"/>
          <p:cNvSpPr txBox="1"/>
          <p:nvPr/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400"/>
              <a:buFont typeface="Batang"/>
              <a:buNone/>
            </a:pPr>
            <a:r>
              <a:rPr b="0" i="0" lang="en-US" sz="1400" u="none">
                <a:solidFill>
                  <a:srgbClr val="898989"/>
                </a:solidFill>
                <a:latin typeface="Batang"/>
                <a:ea typeface="Batang"/>
                <a:cs typeface="Batang"/>
                <a:sym typeface="Batang"/>
              </a:rPr>
              <a:t>Batch no : 10</a:t>
            </a:r>
            <a:endParaRPr/>
          </a:p>
        </p:txBody>
      </p:sp>
      <p:sp>
        <p:nvSpPr>
          <p:cNvPr id="137" name="Google Shape;137;p13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400"/>
              <a:buFont typeface="Batang"/>
              <a:buNone/>
            </a:pPr>
            <a:fld id="{00000000-1234-1234-1234-123412341234}" type="slidenum">
              <a:rPr b="0" i="0" lang="en-US" sz="1400" u="none">
                <a:solidFill>
                  <a:srgbClr val="898989"/>
                </a:solidFill>
                <a:latin typeface="Batang"/>
                <a:ea typeface="Batang"/>
                <a:cs typeface="Batang"/>
                <a:sym typeface="Batang"/>
              </a:rPr>
              <a:t>‹#›</a:t>
            </a:fld>
            <a:endParaRPr/>
          </a:p>
        </p:txBody>
      </p:sp>
      <p:sp>
        <p:nvSpPr>
          <p:cNvPr id="138" name="Google Shape;138;p13"/>
          <p:cNvSpPr txBox="1"/>
          <p:nvPr/>
        </p:nvSpPr>
        <p:spPr>
          <a:xfrm>
            <a:off x="381000" y="381000"/>
            <a:ext cx="11098212" cy="833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Methodology for the Proposed work</a:t>
            </a:r>
            <a:endParaRPr/>
          </a:p>
        </p:txBody>
      </p:sp>
      <p:sp>
        <p:nvSpPr>
          <p:cNvPr id="139" name="Google Shape;139;p13"/>
          <p:cNvSpPr txBox="1"/>
          <p:nvPr/>
        </p:nvSpPr>
        <p:spPr>
          <a:xfrm>
            <a:off x="484187" y="1025525"/>
            <a:ext cx="11098212" cy="5249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b="1" lang="en-US" sz="1800">
                <a:solidFill>
                  <a:schemeClr val="dk1"/>
                </a:solidFill>
              </a:rPr>
              <a:t>Evidence Initialization &amp; Tagging:</a:t>
            </a:r>
            <a:br>
              <a:rPr b="1" lang="en-US" sz="1800">
                <a:solidFill>
                  <a:schemeClr val="dk1"/>
                </a:solidFill>
              </a:rPr>
            </a:b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Each evidence item is assigned a </a:t>
            </a: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unique RFID tag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and metadata such as case ID, investigator, location, and timestamp is recorded for accurate identification.</a:t>
            </a:r>
            <a:b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Collection:</a:t>
            </a:r>
            <a:b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The </a:t>
            </a: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RFID reader and ESP32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capture tag details along with </a:t>
            </a: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GPS coordinates and timestamps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ensuring real-time traceability of evidence.</a:t>
            </a:r>
            <a:b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Secure Data Transmission:</a:t>
            </a:r>
            <a:b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All information is transmitted using  </a:t>
            </a: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TLS 1.3 protocols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with backup mechanisms to prevent data loss.</a:t>
            </a:r>
            <a:b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Blockchain Integration:</a:t>
            </a:r>
            <a:b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Evidence records are stored as </a:t>
            </a: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SHA-256 hashes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 a </a:t>
            </a: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permissioned blockchain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guaranteeing immutability and integrity of data.</a:t>
            </a:r>
            <a:b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Access &amp; Monitoring:</a:t>
            </a:r>
            <a:b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 </a:t>
            </a: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web-based dashboard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provides real-time monitoring, while </a:t>
            </a: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role-based and biometric authentication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ensure secure and transparent evidence retrieval.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40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4"/>
          <p:cNvSpPr txBox="1"/>
          <p:nvPr/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400"/>
              <a:buFont typeface="Batang"/>
              <a:buNone/>
            </a:pPr>
            <a:r>
              <a:t/>
            </a:r>
            <a:endParaRPr>
              <a:solidFill>
                <a:srgbClr val="898989"/>
              </a:solidFill>
              <a:latin typeface="Batang"/>
              <a:ea typeface="Batang"/>
              <a:cs typeface="Batang"/>
              <a:sym typeface="Batang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400"/>
              <a:buFont typeface="Batang"/>
              <a:buNone/>
            </a:pPr>
            <a:r>
              <a:rPr lang="en-US">
                <a:solidFill>
                  <a:srgbClr val="898989"/>
                </a:solidFill>
                <a:latin typeface="Batang"/>
                <a:ea typeface="Batang"/>
                <a:cs typeface="Batang"/>
                <a:sym typeface="Batang"/>
              </a:rPr>
              <a:t>19-11-2025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400"/>
              <a:buFont typeface="Batang"/>
              <a:buNone/>
            </a:pPr>
            <a:r>
              <a:t/>
            </a:r>
            <a:endParaRPr>
              <a:solidFill>
                <a:srgbClr val="898989"/>
              </a:solidFill>
              <a:latin typeface="Batang"/>
              <a:ea typeface="Batang"/>
              <a:cs typeface="Batang"/>
              <a:sym typeface="Batang"/>
            </a:endParaRPr>
          </a:p>
        </p:txBody>
      </p:sp>
      <p:sp>
        <p:nvSpPr>
          <p:cNvPr id="146" name="Google Shape;146;p14"/>
          <p:cNvSpPr txBox="1"/>
          <p:nvPr/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400"/>
              <a:buFont typeface="Batang"/>
              <a:buNone/>
            </a:pPr>
            <a:r>
              <a:rPr b="0" i="0" lang="en-US" sz="1400" u="none">
                <a:solidFill>
                  <a:srgbClr val="898989"/>
                </a:solidFill>
                <a:latin typeface="Batang"/>
                <a:ea typeface="Batang"/>
                <a:cs typeface="Batang"/>
                <a:sym typeface="Batang"/>
              </a:rPr>
              <a:t>Batch no : 10</a:t>
            </a:r>
            <a:endParaRPr/>
          </a:p>
        </p:txBody>
      </p:sp>
      <p:sp>
        <p:nvSpPr>
          <p:cNvPr id="147" name="Google Shape;147;p14"/>
          <p:cNvSpPr txBox="1"/>
          <p:nvPr/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400"/>
              <a:buFont typeface="Batang"/>
              <a:buNone/>
            </a:pPr>
            <a:fld id="{00000000-1234-1234-1234-123412341234}" type="slidenum">
              <a:rPr b="0" i="0" lang="en-US" sz="1400" u="none">
                <a:solidFill>
                  <a:srgbClr val="898989"/>
                </a:solidFill>
                <a:latin typeface="Batang"/>
                <a:ea typeface="Batang"/>
                <a:cs typeface="Batang"/>
                <a:sym typeface="Batang"/>
              </a:rPr>
              <a:t>‹#›</a:t>
            </a:fld>
            <a:endParaRPr/>
          </a:p>
        </p:txBody>
      </p:sp>
      <p:sp>
        <p:nvSpPr>
          <p:cNvPr id="148" name="Google Shape;148;p14"/>
          <p:cNvSpPr txBox="1"/>
          <p:nvPr/>
        </p:nvSpPr>
        <p:spPr>
          <a:xfrm>
            <a:off x="365400" y="271900"/>
            <a:ext cx="11098200" cy="8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Results and Discussion</a:t>
            </a:r>
            <a:endParaRPr/>
          </a:p>
        </p:txBody>
      </p:sp>
      <p:sp>
        <p:nvSpPr>
          <p:cNvPr id="149" name="Google Shape;149;p14"/>
          <p:cNvSpPr txBox="1"/>
          <p:nvPr/>
        </p:nvSpPr>
        <p:spPr>
          <a:xfrm>
            <a:off x="484187" y="1025525"/>
            <a:ext cx="11098200" cy="5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t/>
            </a:r>
            <a:endParaRPr b="0" i="0" sz="4400" u="non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t/>
            </a:r>
            <a:endParaRPr b="0" i="0" sz="4400" u="non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4400" u="non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50" name="Google Shape;150;p14" title="Screenshot 2025-10-13 at 11.57.0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45825" y="771000"/>
            <a:ext cx="7700350" cy="5759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5"/>
          <p:cNvSpPr txBox="1"/>
          <p:nvPr/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400"/>
              <a:buFont typeface="Batang"/>
              <a:buNone/>
            </a:pPr>
            <a:r>
              <a:rPr lang="en-US">
                <a:solidFill>
                  <a:srgbClr val="898989"/>
                </a:solidFill>
                <a:latin typeface="Batang"/>
                <a:ea typeface="Batang"/>
                <a:cs typeface="Batang"/>
                <a:sym typeface="Batang"/>
              </a:rPr>
              <a:t>19-11-2025</a:t>
            </a:r>
            <a:endParaRPr>
              <a:solidFill>
                <a:srgbClr val="898989"/>
              </a:solidFill>
              <a:latin typeface="Batang"/>
              <a:ea typeface="Batang"/>
              <a:cs typeface="Batang"/>
              <a:sym typeface="Batang"/>
            </a:endParaRPr>
          </a:p>
        </p:txBody>
      </p:sp>
      <p:sp>
        <p:nvSpPr>
          <p:cNvPr id="157" name="Google Shape;157;p15"/>
          <p:cNvSpPr txBox="1"/>
          <p:nvPr/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400"/>
              <a:buFont typeface="Batang"/>
              <a:buNone/>
            </a:pPr>
            <a:r>
              <a:rPr b="0" i="0" lang="en-US" sz="1400" u="none">
                <a:solidFill>
                  <a:srgbClr val="898989"/>
                </a:solidFill>
                <a:latin typeface="Batang"/>
                <a:ea typeface="Batang"/>
                <a:cs typeface="Batang"/>
                <a:sym typeface="Batang"/>
              </a:rPr>
              <a:t>Batch no : 10</a:t>
            </a:r>
            <a:endParaRPr/>
          </a:p>
        </p:txBody>
      </p:sp>
      <p:sp>
        <p:nvSpPr>
          <p:cNvPr id="158" name="Google Shape;158;p15"/>
          <p:cNvSpPr txBox="1"/>
          <p:nvPr/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400"/>
              <a:buFont typeface="Batang"/>
              <a:buNone/>
            </a:pPr>
            <a:fld id="{00000000-1234-1234-1234-123412341234}" type="slidenum">
              <a:rPr b="0" i="0" lang="en-US" sz="1400" u="none">
                <a:solidFill>
                  <a:srgbClr val="898989"/>
                </a:solidFill>
                <a:latin typeface="Batang"/>
                <a:ea typeface="Batang"/>
                <a:cs typeface="Batang"/>
                <a:sym typeface="Batang"/>
              </a:rPr>
              <a:t>‹#›</a:t>
            </a:fld>
            <a:endParaRPr/>
          </a:p>
        </p:txBody>
      </p:sp>
      <p:sp>
        <p:nvSpPr>
          <p:cNvPr id="159" name="Google Shape;159;p15"/>
          <p:cNvSpPr txBox="1"/>
          <p:nvPr/>
        </p:nvSpPr>
        <p:spPr>
          <a:xfrm>
            <a:off x="381000" y="381000"/>
            <a:ext cx="11098200" cy="8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Results and Discussion</a:t>
            </a:r>
            <a:endParaRPr/>
          </a:p>
        </p:txBody>
      </p:sp>
      <p:sp>
        <p:nvSpPr>
          <p:cNvPr id="160" name="Google Shape;160;p15"/>
          <p:cNvSpPr txBox="1"/>
          <p:nvPr/>
        </p:nvSpPr>
        <p:spPr>
          <a:xfrm>
            <a:off x="484187" y="1025525"/>
            <a:ext cx="11098200" cy="5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t/>
            </a:r>
            <a:endParaRPr b="0" i="0" sz="4400" u="non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t/>
            </a:r>
            <a:endParaRPr b="0" i="0" sz="4400" u="non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4400" u="non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61" name="Google Shape;161;p15" title="Screenshot 2025-10-13 at 11.54.4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89800" y="1009055"/>
            <a:ext cx="12192000" cy="48398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6"/>
          <p:cNvSpPr txBox="1"/>
          <p:nvPr/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400"/>
              <a:buFont typeface="Batang"/>
              <a:buNone/>
            </a:pPr>
            <a:r>
              <a:t/>
            </a:r>
            <a:endParaRPr>
              <a:solidFill>
                <a:srgbClr val="898989"/>
              </a:solidFill>
              <a:latin typeface="Batang"/>
              <a:ea typeface="Batang"/>
              <a:cs typeface="Batang"/>
              <a:sym typeface="Batang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400"/>
              <a:buFont typeface="Batang"/>
              <a:buNone/>
            </a:pPr>
            <a:r>
              <a:rPr lang="en-US">
                <a:solidFill>
                  <a:srgbClr val="898989"/>
                </a:solidFill>
                <a:latin typeface="Batang"/>
                <a:ea typeface="Batang"/>
                <a:cs typeface="Batang"/>
                <a:sym typeface="Batang"/>
              </a:rPr>
              <a:t>19-11-2025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400"/>
              <a:buFont typeface="Batang"/>
              <a:buNone/>
            </a:pPr>
            <a:r>
              <a:t/>
            </a:r>
            <a:endParaRPr>
              <a:solidFill>
                <a:srgbClr val="898989"/>
              </a:solidFill>
              <a:latin typeface="Batang"/>
              <a:ea typeface="Batang"/>
              <a:cs typeface="Batang"/>
              <a:sym typeface="Batang"/>
            </a:endParaRPr>
          </a:p>
        </p:txBody>
      </p:sp>
      <p:sp>
        <p:nvSpPr>
          <p:cNvPr id="168" name="Google Shape;168;p16"/>
          <p:cNvSpPr txBox="1"/>
          <p:nvPr/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400"/>
              <a:buFont typeface="Batang"/>
              <a:buNone/>
            </a:pPr>
            <a:r>
              <a:rPr b="0" i="0" lang="en-US" sz="1400" u="none">
                <a:solidFill>
                  <a:srgbClr val="898989"/>
                </a:solidFill>
                <a:latin typeface="Batang"/>
                <a:ea typeface="Batang"/>
                <a:cs typeface="Batang"/>
                <a:sym typeface="Batang"/>
              </a:rPr>
              <a:t>Batch no : 10</a:t>
            </a:r>
            <a:endParaRPr/>
          </a:p>
        </p:txBody>
      </p:sp>
      <p:sp>
        <p:nvSpPr>
          <p:cNvPr id="169" name="Google Shape;169;p16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400"/>
              <a:buFont typeface="Batang"/>
              <a:buNone/>
            </a:pPr>
            <a:fld id="{00000000-1234-1234-1234-123412341234}" type="slidenum">
              <a:rPr b="0" i="0" lang="en-US" sz="1400" u="none">
                <a:solidFill>
                  <a:srgbClr val="898989"/>
                </a:solidFill>
                <a:latin typeface="Batang"/>
                <a:ea typeface="Batang"/>
                <a:cs typeface="Batang"/>
                <a:sym typeface="Batang"/>
              </a:rPr>
              <a:t>‹#›</a:t>
            </a:fld>
            <a:endParaRPr/>
          </a:p>
        </p:txBody>
      </p:sp>
      <p:sp>
        <p:nvSpPr>
          <p:cNvPr id="170" name="Google Shape;170;p16"/>
          <p:cNvSpPr txBox="1"/>
          <p:nvPr/>
        </p:nvSpPr>
        <p:spPr>
          <a:xfrm>
            <a:off x="381000" y="381000"/>
            <a:ext cx="11098212" cy="833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/>
          </a:p>
        </p:txBody>
      </p:sp>
      <p:sp>
        <p:nvSpPr>
          <p:cNvPr id="171" name="Google Shape;171;p16"/>
          <p:cNvSpPr txBox="1"/>
          <p:nvPr/>
        </p:nvSpPr>
        <p:spPr>
          <a:xfrm>
            <a:off x="484187" y="1025525"/>
            <a:ext cx="11098212" cy="5249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800" u="non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1.The </a:t>
            </a:r>
            <a:r>
              <a:rPr b="1"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Digital Forensics and Evidence Management System</a:t>
            </a: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ensures secure, transparent, and efficient handling of forensic evidence from collection to courtroom presentation.</a:t>
            </a:r>
            <a:b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2.By combining </a:t>
            </a:r>
            <a:r>
              <a:rPr b="1"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RFID tracking</a:t>
            </a: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</a:t>
            </a:r>
            <a:r>
              <a:rPr b="1"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blockchain technology</a:t>
            </a: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the system eliminates tampering risks and maintains a reliable </a:t>
            </a:r>
            <a:r>
              <a:rPr b="1"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chain of custody</a:t>
            </a: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b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3.Features like </a:t>
            </a:r>
            <a:r>
              <a:rPr b="1"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role-based access control</a:t>
            </a: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</a:t>
            </a:r>
            <a:r>
              <a:rPr b="1"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biometric authentication</a:t>
            </a: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enhance user accountability and data protection at every stage.</a:t>
            </a:r>
            <a:b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4.Overall, the system strengthens </a:t>
            </a:r>
            <a:r>
              <a:rPr b="1"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trust, accuracy, and integrity</a:t>
            </a: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 forensic investigations, setting a new standard for </a:t>
            </a:r>
            <a:r>
              <a:rPr b="1"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modern digital justice systems</a:t>
            </a: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4400" u="non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7"/>
          <p:cNvSpPr txBox="1"/>
          <p:nvPr/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400"/>
              <a:buFont typeface="Batang"/>
              <a:buNone/>
            </a:pPr>
            <a:r>
              <a:t/>
            </a:r>
            <a:endParaRPr>
              <a:solidFill>
                <a:srgbClr val="898989"/>
              </a:solidFill>
              <a:latin typeface="Batang"/>
              <a:ea typeface="Batang"/>
              <a:cs typeface="Batang"/>
              <a:sym typeface="Batang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400"/>
              <a:buFont typeface="Batang"/>
              <a:buNone/>
            </a:pPr>
            <a:r>
              <a:rPr lang="en-US">
                <a:solidFill>
                  <a:srgbClr val="898989"/>
                </a:solidFill>
                <a:latin typeface="Batang"/>
                <a:ea typeface="Batang"/>
                <a:cs typeface="Batang"/>
                <a:sym typeface="Batang"/>
              </a:rPr>
              <a:t>19-11-2025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400"/>
              <a:buFont typeface="Batang"/>
              <a:buNone/>
            </a:pPr>
            <a:r>
              <a:t/>
            </a:r>
            <a:endParaRPr>
              <a:solidFill>
                <a:srgbClr val="898989"/>
              </a:solidFill>
              <a:latin typeface="Batang"/>
              <a:ea typeface="Batang"/>
              <a:cs typeface="Batang"/>
              <a:sym typeface="Batang"/>
            </a:endParaRPr>
          </a:p>
        </p:txBody>
      </p:sp>
      <p:sp>
        <p:nvSpPr>
          <p:cNvPr id="178" name="Google Shape;178;p17"/>
          <p:cNvSpPr txBox="1"/>
          <p:nvPr/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400"/>
              <a:buFont typeface="Batang"/>
              <a:buNone/>
            </a:pPr>
            <a:r>
              <a:rPr b="0" i="0" lang="en-US" sz="1400" u="none">
                <a:solidFill>
                  <a:srgbClr val="898989"/>
                </a:solidFill>
                <a:latin typeface="Batang"/>
                <a:ea typeface="Batang"/>
                <a:cs typeface="Batang"/>
                <a:sym typeface="Batang"/>
              </a:rPr>
              <a:t>Batch no : 10</a:t>
            </a:r>
            <a:endParaRPr/>
          </a:p>
        </p:txBody>
      </p:sp>
      <p:sp>
        <p:nvSpPr>
          <p:cNvPr id="179" name="Google Shape;179;p17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400"/>
              <a:buFont typeface="Batang"/>
              <a:buNone/>
            </a:pPr>
            <a:fld id="{00000000-1234-1234-1234-123412341234}" type="slidenum">
              <a:rPr b="0" i="0" lang="en-US" sz="1400" u="none">
                <a:solidFill>
                  <a:srgbClr val="898989"/>
                </a:solidFill>
                <a:latin typeface="Batang"/>
                <a:ea typeface="Batang"/>
                <a:cs typeface="Batang"/>
                <a:sym typeface="Batang"/>
              </a:rPr>
              <a:t>‹#›</a:t>
            </a:fld>
            <a:endParaRPr/>
          </a:p>
        </p:txBody>
      </p:sp>
      <p:sp>
        <p:nvSpPr>
          <p:cNvPr id="180" name="Google Shape;180;p17"/>
          <p:cNvSpPr txBox="1"/>
          <p:nvPr/>
        </p:nvSpPr>
        <p:spPr>
          <a:xfrm>
            <a:off x="381000" y="381000"/>
            <a:ext cx="11098212" cy="833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Future Scope</a:t>
            </a:r>
            <a:endParaRPr/>
          </a:p>
        </p:txBody>
      </p:sp>
      <p:sp>
        <p:nvSpPr>
          <p:cNvPr id="181" name="Google Shape;181;p17"/>
          <p:cNvSpPr txBox="1"/>
          <p:nvPr/>
        </p:nvSpPr>
        <p:spPr>
          <a:xfrm>
            <a:off x="484187" y="1025525"/>
            <a:ext cx="11098212" cy="5249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t/>
            </a:r>
            <a:endParaRPr b="0" i="0" sz="4400" u="non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AutoNum type="arabicPeriod"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Mobile Access: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Develop a mobile app for investigators to update and track evidence in real-time.</a:t>
            </a:r>
            <a:b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AutoNum type="arabicPeriod"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Basic AI Alerts: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Implement simple AI or rule-based alerts for misplaced, delayed, or mishandled evidence.</a:t>
            </a:r>
            <a:b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AutoNum type="arabicPeriod"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Enhanced Security: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Add multi-factor authentication and improved role-based access for stronger protection.</a:t>
            </a:r>
            <a:b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AutoNum type="arabicPeriod"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Integration with Court Systems: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Link the system with judicial databases for smoother case management and evidence tracking.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4400" u="non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8"/>
          <p:cNvSpPr txBox="1"/>
          <p:nvPr/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400"/>
              <a:buFont typeface="Batang"/>
              <a:buNone/>
            </a:pPr>
            <a:r>
              <a:t/>
            </a:r>
            <a:endParaRPr>
              <a:solidFill>
                <a:srgbClr val="898989"/>
              </a:solidFill>
              <a:latin typeface="Batang"/>
              <a:ea typeface="Batang"/>
              <a:cs typeface="Batang"/>
              <a:sym typeface="Batang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400"/>
              <a:buFont typeface="Batang"/>
              <a:buNone/>
            </a:pPr>
            <a:r>
              <a:rPr lang="en-US">
                <a:solidFill>
                  <a:srgbClr val="898989"/>
                </a:solidFill>
                <a:latin typeface="Batang"/>
                <a:ea typeface="Batang"/>
                <a:cs typeface="Batang"/>
                <a:sym typeface="Batang"/>
              </a:rPr>
              <a:t>19-11-2025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400"/>
              <a:buFont typeface="Batang"/>
              <a:buNone/>
            </a:pPr>
            <a:r>
              <a:t/>
            </a:r>
            <a:endParaRPr>
              <a:solidFill>
                <a:srgbClr val="898989"/>
              </a:solidFill>
              <a:latin typeface="Batang"/>
              <a:ea typeface="Batang"/>
              <a:cs typeface="Batang"/>
              <a:sym typeface="Batang"/>
            </a:endParaRPr>
          </a:p>
        </p:txBody>
      </p:sp>
      <p:sp>
        <p:nvSpPr>
          <p:cNvPr id="188" name="Google Shape;188;p18"/>
          <p:cNvSpPr txBox="1"/>
          <p:nvPr/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400"/>
              <a:buFont typeface="Batang"/>
              <a:buNone/>
            </a:pPr>
            <a:r>
              <a:rPr b="0" i="0" lang="en-US" sz="1400" u="none">
                <a:solidFill>
                  <a:srgbClr val="898989"/>
                </a:solidFill>
                <a:latin typeface="Batang"/>
                <a:ea typeface="Batang"/>
                <a:cs typeface="Batang"/>
                <a:sym typeface="Batang"/>
              </a:rPr>
              <a:t>Batch no : 10</a:t>
            </a:r>
            <a:endParaRPr/>
          </a:p>
        </p:txBody>
      </p:sp>
      <p:sp>
        <p:nvSpPr>
          <p:cNvPr id="189" name="Google Shape;189;p18"/>
          <p:cNvSpPr txBox="1"/>
          <p:nvPr/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400"/>
              <a:buFont typeface="Batang"/>
              <a:buNone/>
            </a:pPr>
            <a:fld id="{00000000-1234-1234-1234-123412341234}" type="slidenum">
              <a:rPr b="0" i="0" lang="en-US" sz="1400" u="none">
                <a:solidFill>
                  <a:srgbClr val="898989"/>
                </a:solidFill>
                <a:latin typeface="Batang"/>
                <a:ea typeface="Batang"/>
                <a:cs typeface="Batang"/>
                <a:sym typeface="Batang"/>
              </a:rPr>
              <a:t>‹#›</a:t>
            </a:fld>
            <a:endParaRPr/>
          </a:p>
        </p:txBody>
      </p:sp>
      <p:sp>
        <p:nvSpPr>
          <p:cNvPr id="190" name="Google Shape;190;p18"/>
          <p:cNvSpPr txBox="1"/>
          <p:nvPr/>
        </p:nvSpPr>
        <p:spPr>
          <a:xfrm>
            <a:off x="457200" y="274637"/>
            <a:ext cx="11098200" cy="8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  <a:endParaRPr/>
          </a:p>
        </p:txBody>
      </p:sp>
      <p:sp>
        <p:nvSpPr>
          <p:cNvPr id="191" name="Google Shape;191;p18"/>
          <p:cNvSpPr txBox="1"/>
          <p:nvPr/>
        </p:nvSpPr>
        <p:spPr>
          <a:xfrm>
            <a:off x="484187" y="1025525"/>
            <a:ext cx="11098200" cy="5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514350" lvl="0" marL="5143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Arial"/>
              <a:buNone/>
            </a:pPr>
            <a:r>
              <a:rPr lang="en-US"/>
              <a:t>[1]</a:t>
            </a:r>
            <a:r>
              <a:rPr lang="en-US" sz="1900">
                <a:latin typeface="Times New Roman"/>
                <a:ea typeface="Times New Roman"/>
                <a:cs typeface="Times New Roman"/>
                <a:sym typeface="Times New Roman"/>
              </a:rPr>
              <a:t> WILLIAMS, S. R., TAYLOR, M., IRLAND, J., &amp; MEHTA, A.  (2014).  RFID TECHNOLOGY IN</a:t>
            </a:r>
            <a:r>
              <a:rPr lang="en-US" sz="19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00">
                <a:latin typeface="Times New Roman"/>
                <a:ea typeface="Times New Roman"/>
                <a:cs typeface="Times New Roman"/>
                <a:sym typeface="Times New Roman"/>
              </a:rPr>
              <a:t>FORENSIC EVIDENCE  MANAGEMENT: AN ASSESSMENT OF BARRIERS, BENEFITS, AND  COSTS. NIST TECHNICAL REPORT. 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14350" lvl="0" marL="5143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Arial"/>
              <a:buNone/>
            </a:pPr>
            <a:r>
              <a:rPr lang="en-US" sz="1900">
                <a:latin typeface="Times New Roman"/>
                <a:ea typeface="Times New Roman"/>
                <a:cs typeface="Times New Roman"/>
                <a:sym typeface="Times New Roman"/>
              </a:rPr>
              <a:t> [2] BONOMI, S., CASINI, M., &amp; CICCOTELLI, C. (2018). B-COC:  A BLOCKCHAIN-BASED CHAIN OF CUSTODY FOR EVIDENCES  MANAGEMENT IN DIGITAL FORENSICS. ARXIV PREPRINT  ARXIV:1810.02124. 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14350" lvl="0" marL="5143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Arial"/>
              <a:buNone/>
            </a:pPr>
            <a:r>
              <a:rPr lang="en-US" sz="1900">
                <a:latin typeface="Times New Roman"/>
                <a:ea typeface="Times New Roman"/>
                <a:cs typeface="Times New Roman"/>
                <a:sym typeface="Times New Roman"/>
              </a:rPr>
              <a:t> [3] BROTSIS, S., KOLOKOTRONIS, N., LIMNIOTIS, K., SHIAELES, S.,  &amp; KAVALLIEROS, D. (2019). BLOCKCHAIN SOLUTIONS FOR  FORENSIC EVIDENCE PRESERVATION IN IOT ENVIRONMENTS. ARXIV  PREPRINT ARXIV:1903.07807.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14350" lvl="0" marL="5143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Arial"/>
              <a:buNone/>
            </a:pPr>
            <a:r>
              <a:rPr lang="en-US" sz="1900">
                <a:latin typeface="Times New Roman"/>
                <a:ea typeface="Times New Roman"/>
                <a:cs typeface="Times New Roman"/>
                <a:sym typeface="Times New Roman"/>
              </a:rPr>
              <a:t> [4] AKBARFAM, A. J., HEIDARIPOUR, M., MALEKI, H., DORAI, G.,  &amp; AGRAWAL, G. (2023). FORENSIBLOCK: A PROVENANCE-DRIVEN  BLOCKCHAIN FRAMEWORK FOR DATA FORENSICS AND  AUDITABILITY. ARXIV PREPRINT ARXIV:2305.05011. 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14350" lvl="0" marL="5143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Arial"/>
              <a:buNone/>
            </a:pPr>
            <a:r>
              <a:rPr lang="en-US" sz="1900">
                <a:latin typeface="Times New Roman"/>
                <a:ea typeface="Times New Roman"/>
                <a:cs typeface="Times New Roman"/>
                <a:sym typeface="Times New Roman"/>
              </a:rPr>
              <a:t> [5] AKHTAR, M. S., &amp; FENG, T. (2022). A BLOCKCHAIN-BASED  SYSTEM FOR INTEGRITY ASSURANCE OF DIGITAL FORENSIC  EVIDENCE IN IOT ENVIRONMENTS. EAI ENDORSED TRANSACTIONS ON  SECURITY AND SAFETY, 8(29), E4.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9"/>
          <p:cNvSpPr txBox="1"/>
          <p:nvPr/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400"/>
              <a:buFont typeface="Batang"/>
              <a:buNone/>
            </a:pPr>
            <a:r>
              <a:t/>
            </a:r>
            <a:endParaRPr>
              <a:solidFill>
                <a:srgbClr val="898989"/>
              </a:solidFill>
              <a:latin typeface="Batang"/>
              <a:ea typeface="Batang"/>
              <a:cs typeface="Batang"/>
              <a:sym typeface="Batang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400"/>
              <a:buFont typeface="Batang"/>
              <a:buNone/>
            </a:pPr>
            <a:r>
              <a:rPr lang="en-US">
                <a:solidFill>
                  <a:srgbClr val="898989"/>
                </a:solidFill>
                <a:latin typeface="Batang"/>
                <a:ea typeface="Batang"/>
                <a:cs typeface="Batang"/>
                <a:sym typeface="Batang"/>
              </a:rPr>
              <a:t>19-11-2025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400"/>
              <a:buFont typeface="Batang"/>
              <a:buNone/>
            </a:pPr>
            <a:r>
              <a:t/>
            </a:r>
            <a:endParaRPr>
              <a:solidFill>
                <a:srgbClr val="898989"/>
              </a:solidFill>
              <a:latin typeface="Batang"/>
              <a:ea typeface="Batang"/>
              <a:cs typeface="Batang"/>
              <a:sym typeface="Batang"/>
            </a:endParaRPr>
          </a:p>
        </p:txBody>
      </p:sp>
      <p:sp>
        <p:nvSpPr>
          <p:cNvPr id="197" name="Google Shape;197;p19"/>
          <p:cNvSpPr txBox="1"/>
          <p:nvPr/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400"/>
              <a:buFont typeface="Batang"/>
              <a:buNone/>
            </a:pPr>
            <a:r>
              <a:rPr b="0" i="0" lang="en-US" sz="1400" u="none">
                <a:solidFill>
                  <a:srgbClr val="898989"/>
                </a:solidFill>
                <a:latin typeface="Batang"/>
                <a:ea typeface="Batang"/>
                <a:cs typeface="Batang"/>
                <a:sym typeface="Batang"/>
              </a:rPr>
              <a:t>Batch no : 10</a:t>
            </a:r>
            <a:endParaRPr/>
          </a:p>
        </p:txBody>
      </p:sp>
      <p:sp>
        <p:nvSpPr>
          <p:cNvPr id="198" name="Google Shape;198;p19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400"/>
              <a:buFont typeface="Batang"/>
              <a:buNone/>
            </a:pPr>
            <a:fld id="{00000000-1234-1234-1234-123412341234}" type="slidenum">
              <a:rPr b="0" i="0" lang="en-US" sz="1400" u="none">
                <a:solidFill>
                  <a:srgbClr val="898989"/>
                </a:solidFill>
                <a:latin typeface="Batang"/>
                <a:ea typeface="Batang"/>
                <a:cs typeface="Batang"/>
                <a:sym typeface="Batang"/>
              </a:rPr>
              <a:t>‹#›</a:t>
            </a:fld>
            <a:endParaRPr/>
          </a:p>
        </p:txBody>
      </p:sp>
      <p:pic>
        <p:nvPicPr>
          <p:cNvPr id="199" name="Google Shape;19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41712" y="1204912"/>
            <a:ext cx="4776787" cy="4678362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9"/>
          <p:cNvSpPr txBox="1"/>
          <p:nvPr/>
        </p:nvSpPr>
        <p:spPr>
          <a:xfrm>
            <a:off x="3078162" y="808037"/>
            <a:ext cx="5837237" cy="5195887"/>
          </a:xfrm>
          <a:prstGeom prst="rect">
            <a:avLst/>
          </a:prstGeom>
          <a:solidFill>
            <a:schemeClr val="lt1">
              <a:alpha val="8627"/>
            </a:schemeClr>
          </a:solidFill>
          <a:ln cap="flat" cmpd="sng" w="12700">
            <a:solidFill>
              <a:srgbClr val="2F52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1" name="Google Shape;201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95350" y="1631950"/>
            <a:ext cx="2030412" cy="3413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37675" y="1539875"/>
            <a:ext cx="2030412" cy="3413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